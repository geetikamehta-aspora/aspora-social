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8e64f96-6dd7-6e4a-e801-54aae057a6ad}">
          <p14:sldIdLst>
            <p14:sldId id="256"/>
            <p14:sldId id="257"/>
            <p14:sldId id="258"/>
          </p14:sldIdLst>
        </p14:section>
        <p14:section name="1 My D2C Journey" id="{e5e0ab39-c942-4508-7fee-e9bfd0d975e9}">
          <p14:sldIdLst>
            <p14:sldId id="259"/>
            <p14:sldId id="260"/>
            <p14:sldId id="261"/>
          </p14:sldIdLst>
        </p14:section>
        <p14:section name="2 Sales Channels &amp; Growth" id="{773b425c-ff6c-2df1-8469-0c6f261d48b3}">
          <p14:sldIdLst>
            <p14:sldId id="262"/>
          </p14:sldIdLst>
        </p14:section>
        <p14:section name="3 Understanding Customers" id="{2d1e8883-13c4-2ca9-d4c5-f0a229fcc408}">
          <p14:sldIdLst>
            <p14:sldId id="263"/>
            <p14:sldId id="264"/>
            <p14:sldId id="265"/>
          </p14:sldIdLst>
        </p14:section>
        <p14:section name="4 Pricing &amp; Profitability" id="{e956a1f4-cbc0-ce30-14a9-5c0ceb90c2a8}">
          <p14:sldIdLst>
            <p14:sldId id="266"/>
            <p14:sldId id="267"/>
            <p14:sldId id="268"/>
          </p14:sldIdLst>
        </p14:section>
        <p14:section name="Wrap-up" id="{53dada1c-a04c-a28a-817e-0a3267c2533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 short D2C story from our own stall at D2C Bazaar, structured around the four parts on the next slide. About 25-30 minutes,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roughly 6-7 minutes each. Everything comes from what we saw and did at the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to a minute. Ask the room for D2C brands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the stall, the products, the crowd. Preview the three learnings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knew our name, so no one walked up looking for us. We had to put the product in people's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scales, push takes effort, but it is how a new brand starts. Pushing also showed us what people actually react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channel was the stall. The QR on the table points people to Instagram. Add your own channel numbers or examples here and talk about what to add next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products are for pets, but pets do not walk up to a stall or pay. Someone else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else is the buyer different from the user? Kids' products, gifts, B2B tools. Speak to the buyer, still make something the user loves.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shopper at the stall was different: a browser, a gifter, a regular pet parent. Reading them quickly decided how we sold. Add a real example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people are happy to pay properly for, rather than chasing the biggest number of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one concrete example from the stall where a better product or a combo beat a cheap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left money behind if we offered the same thing to everyone. Tie back to judging the customer and to combos in the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sentence each, one per part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Prompts: what would you push if you had no brand yet? Who is your buyer versus your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480560" cy="192024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548640" y="3337560"/>
            <a:ext cx="4206240" cy="91440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ESSON_RIGHT_IMG">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4480560" cy="13716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ph idx="101" type="body" hasCustomPrompt="1"/>
          </p:nvPr>
        </p:nvSpPr>
        <p:spPr>
          <a:xfrm>
            <a:off x="548640" y="2651760"/>
            <a:ext cx="4297680" cy="914400"/>
          </a:xfrm>
          <a:prstGeom prst="rect">
            <a:avLst/>
          </a:prstGeom>
          <a:noFill/>
          <a:ln/>
        </p:spPr>
        <p:txBody>
          <a:bodyPr wrap="square" rtlCol="0"/>
          <a:lstStyle>
            <a:lvl1pPr algn="l" indent="0" marL="0">
              <a:buNone/>
              <a:defRPr lang="en-US" sz="1800" dirty="0">
                <a:solidFill>
                  <a:schemeClr val="tx1"/>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GENDA_RIGHT_IMG">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4480560" cy="6858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ESSON_LEFT_IMG">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480560" y="1143000"/>
            <a:ext cx="4114800" cy="13716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ph idx="101" type="body" hasCustomPrompt="1"/>
          </p:nvPr>
        </p:nvSpPr>
        <p:spPr>
          <a:xfrm>
            <a:off x="4480560" y="2651760"/>
            <a:ext cx="4114800" cy="914400"/>
          </a:xfrm>
          <a:prstGeom prst="rect">
            <a:avLst/>
          </a:prstGeom>
          <a:noFill/>
          <a:ln/>
        </p:spPr>
        <p:txBody>
          <a:bodyPr wrap="square" rtlCol="0"/>
          <a:lstStyle>
            <a:lvl1pPr algn="l" indent="0" marL="0">
              <a:buNone/>
              <a:defRPr lang="en-US" sz="1800" dirty="0">
                <a:solidFill>
                  <a:schemeClr val="tx1"/>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8046720" cy="8229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1371600"/>
            <a:ext cx="8046720" cy="4572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6.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6.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7.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w icon circle"/>
          <p:cNvSpPr/>
          <p:nvPr/>
        </p:nvSpPr>
        <p:spPr>
          <a:xfrm>
            <a:off x="548640" y="640080"/>
            <a:ext cx="411480" cy="411480"/>
          </a:xfrm>
          <a:prstGeom prst="ellipse">
            <a:avLst/>
          </a:prstGeom>
          <a:solidFill>
            <a:schemeClr val="accent2"/>
          </a:solidFill>
          <a:ln/>
        </p:spPr>
      </p:sp>
      <p:pic>
        <p:nvPicPr>
          <p:cNvPr id="3" name="Paw icon" descr="Paw icon">    </p:cNvPr>
          <p:cNvPicPr>
            <a:picLocks noChangeAspect="1"/>
          </p:cNvPicPr>
          <p:nvPr/>
        </p:nvPicPr>
        <p:blipFill>
          <a:blip r:embed="rId1"/>
          <a:stretch>
            <a:fillRect/>
          </a:stretch>
        </p:blipFill>
        <p:spPr>
          <a:xfrm>
            <a:off x="651510" y="742950"/>
            <a:ext cx="205740" cy="205740"/>
          </a:xfrm>
          <a:prstGeom prst="rect">
            <a:avLst/>
          </a:prstGeom>
        </p:spPr>
      </p:pic>
      <p:sp>
        <p:nvSpPr>
          <p:cNvPr id="4" name="Label"/>
          <p:cNvSpPr txBox="1"/>
          <p:nvPr/>
        </p:nvSpPr>
        <p:spPr>
          <a:xfrm>
            <a:off x="1097280" y="640080"/>
            <a:ext cx="3474720" cy="411480"/>
          </a:xfrm>
          <a:prstGeom prst="rect">
            <a:avLst/>
          </a:prstGeom>
          <a:noFill/>
          <a:ln/>
        </p:spPr>
        <p:txBody>
          <a:bodyPr wrap="square" lIns="0" tIns="0" rIns="0" bIns="0" rtlCol="0" anchor="ctr"/>
          <a:lstStyle/>
          <a:p>
            <a:pPr indent="0" marL="0">
              <a:buNone/>
            </a:pPr>
            <a:r>
              <a:rPr lang="en-US" sz="1400" b="1" spc="300" kern="0" dirty="0">
                <a:solidFill>
                  <a:schemeClr val="accent3"/>
                </a:solidFill>
              </a:rPr>
              <a:t>D2C SESSION</a:t>
            </a:r>
            <a:endParaRPr lang="en-US" sz="1400" dirty="0"/>
          </a:p>
        </p:txBody>
      </p:sp>
      <p:sp>
        <p:nvSpPr>
          <p:cNvPr id="5" name="Text 0"/>
          <p:cNvSpPr/>
          <p:nvPr>
            <p:ph idx="100" type="title" hasCustomPrompt="1"/>
          </p:nvPr>
        </p:nvSpPr>
        <p:spPr>
          <a:xfrm>
            <a:off x="548640" y="1234440"/>
            <a:ext cx="4480560" cy="1920240"/>
          </a:xfrm>
          <a:prstGeom prst="rect">
            <a:avLst/>
          </a:prstGeom>
          <a:noFill/>
          <a:ln/>
        </p:spPr>
        <p:txBody>
          <a:bodyPr wrap="square" lIns="0" tIns="0" rIns="0" bIns="0" rtlCol="0" anchor="t"/>
          <a:lstStyle/>
          <a:p>
            <a:pPr algn="l" indent="0" marL="0">
              <a:buNone/>
            </a:pPr>
            <a:r>
              <a:rPr lang="en-US" sz="3800" b="1" dirty="0">
                <a:solidFill>
                  <a:schemeClr val="bg1"/>
                </a:solidFill>
              </a:rPr>
              <a:t>Building and Scaling a D2C Business</a:t>
            </a:r>
            <a:endParaRPr lang="en-US" sz="3800" dirty="0"/>
          </a:p>
        </p:txBody>
      </p:sp>
      <p:sp>
        <p:nvSpPr>
          <p:cNvPr id="6" name="Text 0"/>
          <p:cNvSpPr/>
          <p:nvPr>
            <p:ph idx="101" type="body" hasCustomPrompt="1"/>
          </p:nvPr>
        </p:nvSpPr>
        <p:spPr>
          <a:xfrm>
            <a:off x="548640" y="3337560"/>
            <a:ext cx="4206240" cy="914400"/>
          </a:xfrm>
          <a:prstGeom prst="rect">
            <a:avLst/>
          </a:prstGeom>
          <a:noFill/>
          <a:ln/>
        </p:spPr>
        <p:txBody>
          <a:bodyPr wrap="square" lIns="0" tIns="0" rIns="0" bIns="0" rtlCol="0" anchor="t"/>
          <a:lstStyle/>
          <a:p>
            <a:pPr algn="l" indent="0" marL="0">
              <a:buNone/>
            </a:pPr>
            <a:r>
              <a:rPr lang="en-US" sz="1800" dirty="0">
                <a:solidFill>
                  <a:schemeClr val="bg2"/>
                </a:solidFill>
              </a:rPr>
              <a:t>Lessons from our own stall at D2C Bazaar</a:t>
            </a:r>
            <a:endParaRPr lang="en-US" sz="1800" dirty="0"/>
          </a:p>
        </p:txBody>
      </p:sp>
      <p:pic>
        <p:nvPicPr>
          <p:cNvPr id="7" name="Team photo" descr="Our team at the Let's Pawty stall">    </p:cNvPr>
          <p:cNvPicPr>
            <a:picLocks noChangeAspect="1"/>
          </p:cNvPicPr>
          <p:nvPr/>
        </p:nvPicPr>
        <p:blipFill>
          <a:blip r:embed="rId2"/>
          <a:stretch>
            <a:fillRect/>
          </a:stretch>
        </p:blipFill>
        <p:spPr>
          <a:xfrm>
            <a:off x="5394960" y="457200"/>
            <a:ext cx="3291840" cy="4229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4480560" cy="685800"/>
          </a:xfrm>
          <a:prstGeom prst="rect">
            <a:avLst/>
          </a:prstGeom>
          <a:noFill/>
          <a:ln/>
        </p:spPr>
        <p:txBody>
          <a:bodyPr wrap="square" lIns="0" tIns="0" rIns="0" bIns="0" rtlCol="0" anchor="t"/>
          <a:lstStyle/>
          <a:p>
            <a:pPr algn="l" indent="0" marL="0">
              <a:buNone/>
            </a:pPr>
            <a:r>
              <a:rPr lang="en-US" sz="3600" b="1" dirty="0">
                <a:solidFill>
                  <a:schemeClr val="tx2"/>
                </a:solidFill>
              </a:rPr>
              <a:t>Session Overview</a:t>
            </a:r>
            <a:endParaRPr lang="en-US" sz="3600" dirty="0"/>
          </a:p>
        </p:txBody>
      </p:sp>
      <p:sp>
        <p:nvSpPr>
          <p:cNvPr id="3" name="Agenda number 1"/>
          <p:cNvSpPr txBox="1"/>
          <p:nvPr/>
        </p:nvSpPr>
        <p:spPr>
          <a:xfrm>
            <a:off x="548640" y="205740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Agenda item 1"/>
          <p:cNvSpPr txBox="1"/>
          <p:nvPr/>
        </p:nvSpPr>
        <p:spPr>
          <a:xfrm>
            <a:off x="1143000" y="2011680"/>
            <a:ext cx="3931920" cy="548640"/>
          </a:xfrm>
          <a:prstGeom prst="rect">
            <a:avLst/>
          </a:prstGeom>
          <a:noFill/>
          <a:ln/>
        </p:spPr>
        <p:txBody>
          <a:bodyPr wrap="square" lIns="0" tIns="0" rIns="0" bIns="0" rtlCol="0" anchor="ctr"/>
          <a:lstStyle/>
          <a:p>
            <a:pPr indent="0" marL="0">
              <a:buNone/>
            </a:pPr>
            <a:r>
              <a:rPr lang="en-US" sz="1800" b="1" dirty="0">
                <a:solidFill>
                  <a:schemeClr val="tx2"/>
                </a:solidFill>
              </a:rPr>
              <a:t>My D2C Journey</a:t>
            </a:r>
            <a:endParaRPr lang="en-US" sz="1800" dirty="0"/>
          </a:p>
          <a:p>
            <a:pPr indent="0" marL="0">
              <a:buNone/>
            </a:pPr>
            <a:r>
              <a:rPr lang="en-US" sz="1400" dirty="0">
                <a:solidFill>
                  <a:schemeClr val="tx1"/>
                </a:solidFill>
              </a:rPr>
              <a:t>Experiences, challenges, learnings, advice for C3</a:t>
            </a:r>
            <a:endParaRPr lang="en-US" sz="1800" dirty="0"/>
          </a:p>
        </p:txBody>
      </p:sp>
      <p:sp>
        <p:nvSpPr>
          <p:cNvPr id="5" name="Agenda number 2"/>
          <p:cNvSpPr txBox="1"/>
          <p:nvPr/>
        </p:nvSpPr>
        <p:spPr>
          <a:xfrm>
            <a:off x="548640" y="2715768"/>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Agenda item 2"/>
          <p:cNvSpPr txBox="1"/>
          <p:nvPr/>
        </p:nvSpPr>
        <p:spPr>
          <a:xfrm>
            <a:off x="1143000" y="2670048"/>
            <a:ext cx="3931920" cy="548640"/>
          </a:xfrm>
          <a:prstGeom prst="rect">
            <a:avLst/>
          </a:prstGeom>
          <a:noFill/>
          <a:ln/>
        </p:spPr>
        <p:txBody>
          <a:bodyPr wrap="square" lIns="0" tIns="0" rIns="0" bIns="0" rtlCol="0" anchor="ctr"/>
          <a:lstStyle/>
          <a:p>
            <a:pPr indent="0" marL="0">
              <a:buNone/>
            </a:pPr>
            <a:r>
              <a:rPr lang="en-US" sz="1800" b="1" dirty="0">
                <a:solidFill>
                  <a:schemeClr val="tx2"/>
                </a:solidFill>
              </a:rPr>
              <a:t>Sales Channels &amp; Growth</a:t>
            </a:r>
            <a:endParaRPr lang="en-US" sz="1800" dirty="0"/>
          </a:p>
          <a:p>
            <a:pPr indent="0" marL="0">
              <a:buNone/>
            </a:pPr>
            <a:r>
              <a:rPr lang="en-US" sz="1400" dirty="0">
                <a:solidFill>
                  <a:schemeClr val="tx1"/>
                </a:solidFill>
              </a:rPr>
              <a:t>Where to sell, and how to scale profitably</a:t>
            </a:r>
            <a:endParaRPr lang="en-US" sz="1800" dirty="0"/>
          </a:p>
        </p:txBody>
      </p:sp>
      <p:sp>
        <p:nvSpPr>
          <p:cNvPr id="7" name="Agenda number 3"/>
          <p:cNvSpPr txBox="1"/>
          <p:nvPr/>
        </p:nvSpPr>
        <p:spPr>
          <a:xfrm>
            <a:off x="548640" y="3374136"/>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Agenda item 3"/>
          <p:cNvSpPr txBox="1"/>
          <p:nvPr/>
        </p:nvSpPr>
        <p:spPr>
          <a:xfrm>
            <a:off x="1143000" y="3328416"/>
            <a:ext cx="3931920" cy="548640"/>
          </a:xfrm>
          <a:prstGeom prst="rect">
            <a:avLst/>
          </a:prstGeom>
          <a:noFill/>
          <a:ln/>
        </p:spPr>
        <p:txBody>
          <a:bodyPr wrap="square" lIns="0" tIns="0" rIns="0" bIns="0" rtlCol="0" anchor="ctr"/>
          <a:lstStyle/>
          <a:p>
            <a:pPr indent="0" marL="0">
              <a:buNone/>
            </a:pPr>
            <a:r>
              <a:rPr lang="en-US" sz="1800" b="1" dirty="0">
                <a:solidFill>
                  <a:schemeClr val="tx2"/>
                </a:solidFill>
              </a:rPr>
              <a:t>Understanding Customers</a:t>
            </a:r>
            <a:endParaRPr lang="en-US" sz="1800" dirty="0"/>
          </a:p>
          <a:p>
            <a:pPr indent="0" marL="0">
              <a:buNone/>
            </a:pPr>
            <a:r>
              <a:rPr lang="en-US" sz="1400" dirty="0">
                <a:solidFill>
                  <a:schemeClr val="tx1"/>
                </a:solidFill>
              </a:rPr>
              <a:t>Their needs, finding them, tailoring the pitch</a:t>
            </a:r>
            <a:endParaRPr lang="en-US" sz="1800" dirty="0"/>
          </a:p>
        </p:txBody>
      </p:sp>
      <p:sp>
        <p:nvSpPr>
          <p:cNvPr id="9" name="Agenda number 4"/>
          <p:cNvSpPr txBox="1"/>
          <p:nvPr/>
        </p:nvSpPr>
        <p:spPr>
          <a:xfrm>
            <a:off x="548640" y="4032504"/>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0" name="Agenda item 4"/>
          <p:cNvSpPr txBox="1"/>
          <p:nvPr/>
        </p:nvSpPr>
        <p:spPr>
          <a:xfrm>
            <a:off x="1143000" y="3986784"/>
            <a:ext cx="3931920" cy="548640"/>
          </a:xfrm>
          <a:prstGeom prst="rect">
            <a:avLst/>
          </a:prstGeom>
          <a:noFill/>
          <a:ln/>
        </p:spPr>
        <p:txBody>
          <a:bodyPr wrap="square" lIns="0" tIns="0" rIns="0" bIns="0" rtlCol="0" anchor="ctr"/>
          <a:lstStyle/>
          <a:p>
            <a:pPr indent="0" marL="0">
              <a:buNone/>
            </a:pPr>
            <a:r>
              <a:rPr lang="en-US" sz="1800" b="1" dirty="0">
                <a:solidFill>
                  <a:schemeClr val="tx2"/>
                </a:solidFill>
              </a:rPr>
              <a:t>Pricing &amp; Profitability</a:t>
            </a:r>
            <a:endParaRPr lang="en-US" sz="1800" dirty="0"/>
          </a:p>
          <a:p>
            <a:pPr indent="0" marL="0">
              <a:buNone/>
            </a:pPr>
            <a:r>
              <a:rPr lang="en-US" sz="1400" dirty="0">
                <a:solidFill>
                  <a:schemeClr val="tx1"/>
                </a:solidFill>
              </a:rPr>
              <a:t>Pricing that balances growth and profit</a:t>
            </a:r>
            <a:endParaRPr lang="en-US" sz="1800" dirty="0"/>
          </a:p>
        </p:txBody>
      </p:sp>
      <p:pic>
        <p:nvPicPr>
          <p:cNvPr id="11" name="Bazaar photo" descr="The D2C Bazaar entrance sign">    </p:cNvPr>
          <p:cNvPicPr>
            <a:picLocks noChangeAspect="1"/>
          </p:cNvPicPr>
          <p:nvPr/>
        </p:nvPicPr>
        <p:blipFill>
          <a:blip r:embed="rId1"/>
          <a:stretch>
            <a:fillRect/>
          </a:stretch>
        </p:blipFill>
        <p:spPr>
          <a:xfrm>
            <a:off x="5394960" y="457200"/>
            <a:ext cx="3291840" cy="422910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What is D2C?</a:t>
            </a:r>
            <a:endParaRPr lang="en-US" sz="3600" dirty="0"/>
          </a:p>
        </p:txBody>
      </p:sp>
      <p:sp>
        <p:nvSpPr>
          <p:cNvPr id="3" name="Definition"/>
          <p:cNvSpPr txBox="1"/>
          <p:nvPr/>
        </p:nvSpPr>
        <p:spPr>
          <a:xfrm>
            <a:off x="548640" y="1234440"/>
            <a:ext cx="8046720" cy="457200"/>
          </a:xfrm>
          <a:prstGeom prst="rect">
            <a:avLst/>
          </a:prstGeom>
          <a:noFill/>
          <a:ln/>
        </p:spPr>
        <p:txBody>
          <a:bodyPr wrap="square" lIns="0" tIns="0" rIns="0" bIns="0" rtlCol="0" anchor="ctr"/>
          <a:lstStyle/>
          <a:p>
            <a:pPr indent="0" marL="0">
              <a:buNone/>
            </a:pPr>
            <a:r>
              <a:rPr lang="en-US" sz="2000" dirty="0">
                <a:solidFill>
                  <a:schemeClr val="tx1"/>
                </a:solidFill>
              </a:rPr>
              <a:t>Direct-to-Consumer: the brand sells straight to the customer, with no middleman.</a:t>
            </a:r>
            <a:endParaRPr lang="en-US" sz="2000" dirty="0"/>
          </a:p>
        </p:txBody>
      </p:sp>
      <p:sp>
        <p:nvSpPr>
          <p:cNvPr id="4" name="Brand icon circle"/>
          <p:cNvSpPr/>
          <p:nvPr/>
        </p:nvSpPr>
        <p:spPr>
          <a:xfrm>
            <a:off x="1600200" y="2148840"/>
            <a:ext cx="1463040" cy="1463040"/>
          </a:xfrm>
          <a:prstGeom prst="ellipse">
            <a:avLst/>
          </a:prstGeom>
          <a:solidFill>
            <a:schemeClr val="accent1"/>
          </a:solidFill>
          <a:ln/>
        </p:spPr>
      </p:sp>
      <p:pic>
        <p:nvPicPr>
          <p:cNvPr id="5" name="Brand icon" descr="Brand icon">    </p:cNvPr>
          <p:cNvPicPr>
            <a:picLocks noChangeAspect="1"/>
          </p:cNvPicPr>
          <p:nvPr/>
        </p:nvPicPr>
        <p:blipFill>
          <a:blip r:embed="rId1"/>
          <a:stretch>
            <a:fillRect/>
          </a:stretch>
        </p:blipFill>
        <p:spPr>
          <a:xfrm>
            <a:off x="1965960" y="2514600"/>
            <a:ext cx="731520" cy="731520"/>
          </a:xfrm>
          <a:prstGeom prst="rect">
            <a:avLst/>
          </a:prstGeom>
        </p:spPr>
      </p:pic>
      <p:sp>
        <p:nvSpPr>
          <p:cNvPr id="6" name="Customer icon circle"/>
          <p:cNvSpPr/>
          <p:nvPr/>
        </p:nvSpPr>
        <p:spPr>
          <a:xfrm>
            <a:off x="6080760" y="2148840"/>
            <a:ext cx="1463040" cy="1463040"/>
          </a:xfrm>
          <a:prstGeom prst="ellipse">
            <a:avLst/>
          </a:prstGeom>
          <a:solidFill>
            <a:schemeClr val="accent1"/>
          </a:solidFill>
          <a:ln/>
        </p:spPr>
      </p:sp>
      <p:pic>
        <p:nvPicPr>
          <p:cNvPr id="7" name="Customer icon" descr="Customer icon">    </p:cNvPr>
          <p:cNvPicPr>
            <a:picLocks noChangeAspect="1"/>
          </p:cNvPicPr>
          <p:nvPr/>
        </p:nvPicPr>
        <p:blipFill>
          <a:blip r:embed="rId2"/>
          <a:stretch>
            <a:fillRect/>
          </a:stretch>
        </p:blipFill>
        <p:spPr>
          <a:xfrm>
            <a:off x="6446520" y="2514600"/>
            <a:ext cx="731520" cy="731520"/>
          </a:xfrm>
          <a:prstGeom prst="rect">
            <a:avLst/>
          </a:prstGeom>
        </p:spPr>
      </p:pic>
      <p:sp>
        <p:nvSpPr>
          <p:cNvPr id="8" name="Arrow"/>
          <p:cNvSpPr/>
          <p:nvPr/>
        </p:nvSpPr>
        <p:spPr>
          <a:xfrm>
            <a:off x="3337560" y="2880360"/>
            <a:ext cx="2468880" cy="0"/>
          </a:xfrm>
          <a:prstGeom prst="line">
            <a:avLst/>
          </a:prstGeom>
          <a:noFill/>
          <a:ln w="50800">
            <a:solidFill>
              <a:schemeClr val="accent2"/>
            </a:solidFill>
            <a:prstDash val="solid"/>
            <a:tailEnd type="triangle"/>
          </a:ln>
        </p:spPr>
      </p:sp>
      <p:sp>
        <p:nvSpPr>
          <p:cNvPr id="9" name="Arrow label"/>
          <p:cNvSpPr txBox="1"/>
          <p:nvPr/>
        </p:nvSpPr>
        <p:spPr>
          <a:xfrm>
            <a:off x="3337560" y="2423160"/>
            <a:ext cx="2468880" cy="365760"/>
          </a:xfrm>
          <a:prstGeom prst="rect">
            <a:avLst/>
          </a:prstGeom>
          <a:noFill/>
          <a:ln/>
        </p:spPr>
        <p:txBody>
          <a:bodyPr wrap="square" lIns="0" tIns="0" rIns="0" bIns="0" rtlCol="0" anchor="ctr"/>
          <a:lstStyle/>
          <a:p>
            <a:pPr algn="ctr" indent="0" marL="0">
              <a:buNone/>
            </a:pPr>
            <a:r>
              <a:rPr lang="en-US" sz="1600" b="1" dirty="0">
                <a:solidFill>
                  <a:schemeClr val="accent2"/>
                </a:solidFill>
              </a:rPr>
              <a:t>No middleman</a:t>
            </a:r>
            <a:endParaRPr lang="en-US" sz="1600" dirty="0"/>
          </a:p>
        </p:txBody>
      </p:sp>
      <p:sp>
        <p:nvSpPr>
          <p:cNvPr id="10" name="Brand label"/>
          <p:cNvSpPr txBox="1"/>
          <p:nvPr/>
        </p:nvSpPr>
        <p:spPr>
          <a:xfrm>
            <a:off x="1325880" y="3749040"/>
            <a:ext cx="2011680" cy="411480"/>
          </a:xfrm>
          <a:prstGeom prst="rect">
            <a:avLst/>
          </a:prstGeom>
          <a:noFill/>
          <a:ln/>
        </p:spPr>
        <p:txBody>
          <a:bodyPr wrap="square" lIns="0" tIns="0" rIns="0" bIns="0" rtlCol="0" anchor="ctr"/>
          <a:lstStyle/>
          <a:p>
            <a:pPr algn="ctr" indent="0" marL="0">
              <a:buNone/>
            </a:pPr>
            <a:r>
              <a:rPr lang="en-US" sz="2400" b="1" dirty="0">
                <a:solidFill>
                  <a:schemeClr val="tx2"/>
                </a:solidFill>
              </a:rPr>
              <a:t>Brand</a:t>
            </a:r>
            <a:endParaRPr lang="en-US" sz="2400" dirty="0"/>
          </a:p>
        </p:txBody>
      </p:sp>
      <p:sp>
        <p:nvSpPr>
          <p:cNvPr id="11" name="Customer label"/>
          <p:cNvSpPr txBox="1"/>
          <p:nvPr/>
        </p:nvSpPr>
        <p:spPr>
          <a:xfrm>
            <a:off x="5806440" y="3749040"/>
            <a:ext cx="2011680" cy="411480"/>
          </a:xfrm>
          <a:prstGeom prst="rect">
            <a:avLst/>
          </a:prstGeom>
          <a:noFill/>
          <a:ln/>
        </p:spPr>
        <p:txBody>
          <a:bodyPr wrap="square" lIns="0" tIns="0" rIns="0" bIns="0" rtlCol="0" anchor="ctr"/>
          <a:lstStyle/>
          <a:p>
            <a:pPr algn="ctr" indent="0" marL="0">
              <a:buNone/>
            </a:pPr>
            <a:r>
              <a:rPr lang="en-US" sz="2400" b="1" dirty="0">
                <a:solidFill>
                  <a:schemeClr val="tx2"/>
                </a:solidFill>
              </a:rPr>
              <a:t>Customer</a:t>
            </a:r>
            <a:endParaRPr lang="en-US" sz="2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tall photo" descr="Smiling at our stall table full of pet clothes">    </p:cNvPr>
          <p:cNvPicPr>
            <a:picLocks noChangeAspect="1"/>
          </p:cNvPicPr>
          <p:nvPr/>
        </p:nvPicPr>
        <p:blipFill>
          <a:blip r:embed="rId1"/>
          <a:stretch>
            <a:fillRect/>
          </a:stretch>
        </p:blipFill>
        <p:spPr>
          <a:xfrm>
            <a:off x="548640" y="457200"/>
            <a:ext cx="3291840" cy="4229100"/>
          </a:xfrm>
          <a:prstGeom prst="rect">
            <a:avLst/>
          </a:prstGeom>
        </p:spPr>
      </p:pic>
      <p:sp>
        <p:nvSpPr>
          <p:cNvPr id="3" name="Section number"/>
          <p:cNvSpPr txBox="1"/>
          <p:nvPr/>
        </p:nvSpPr>
        <p:spPr>
          <a:xfrm>
            <a:off x="448056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Section label"/>
          <p:cNvSpPr txBox="1"/>
          <p:nvPr/>
        </p:nvSpPr>
        <p:spPr>
          <a:xfrm>
            <a:off x="502920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MY D2C JOURNEY</a:t>
            </a:r>
            <a:endParaRPr lang="en-US" sz="1400" dirty="0"/>
          </a:p>
        </p:txBody>
      </p:sp>
      <p:sp>
        <p:nvSpPr>
          <p:cNvPr id="5" name="Text 0"/>
          <p:cNvSpPr/>
          <p:nvPr>
            <p:ph idx="100" type="title" hasCustomPrompt="1"/>
          </p:nvPr>
        </p:nvSpPr>
        <p:spPr>
          <a:xfrm>
            <a:off x="4480560" y="1143000"/>
            <a:ext cx="4114800" cy="1371600"/>
          </a:xfrm>
          <a:prstGeom prst="rect">
            <a:avLst/>
          </a:prstGeom>
          <a:noFill/>
          <a:ln/>
        </p:spPr>
        <p:txBody>
          <a:bodyPr wrap="square" lIns="0" tIns="0" rIns="0" bIns="0" rtlCol="0" anchor="t"/>
          <a:lstStyle/>
          <a:p>
            <a:pPr algn="l" indent="0" marL="0">
              <a:buNone/>
            </a:pPr>
            <a:r>
              <a:rPr lang="en-US" sz="3600" b="1" dirty="0">
                <a:solidFill>
                  <a:schemeClr val="tx2"/>
                </a:solidFill>
              </a:rPr>
              <a:t>Our Stall at D2C Bazaar</a:t>
            </a:r>
            <a:endParaRPr lang="en-US" sz="3600" dirty="0"/>
          </a:p>
        </p:txBody>
      </p:sp>
      <p:sp>
        <p:nvSpPr>
          <p:cNvPr id="6" name="Text 0"/>
          <p:cNvSpPr/>
          <p:nvPr>
            <p:ph idx="101" type="body" hasCustomPrompt="1"/>
          </p:nvPr>
        </p:nvSpPr>
        <p:spPr>
          <a:xfrm>
            <a:off x="4480560" y="2651760"/>
            <a:ext cx="4114800" cy="914400"/>
          </a:xfrm>
          <a:prstGeom prst="rect">
            <a:avLst/>
          </a:prstGeom>
          <a:noFill/>
          <a:ln/>
        </p:spPr>
        <p:txBody>
          <a:bodyPr wrap="square" lIns="0" tIns="0" rIns="0" bIns="0" rtlCol="0" anchor="t"/>
          <a:lstStyle/>
          <a:p>
            <a:pPr algn="l" indent="0" marL="0">
              <a:buNone/>
            </a:pPr>
            <a:r>
              <a:rPr lang="en-US" sz="1800" dirty="0">
                <a:solidFill>
                  <a:schemeClr val="tx1"/>
                </a:solidFill>
              </a:rPr>
              <a:t>Pet clothes, accessories and combos, sold face to face.</a:t>
            </a:r>
            <a:endParaRPr lang="en-US" sz="1800" dirty="0"/>
          </a:p>
        </p:txBody>
      </p:sp>
      <p:sp>
        <p:nvSpPr>
          <p:cNvPr id="7" name="Number 1"/>
          <p:cNvSpPr txBox="1"/>
          <p:nvPr/>
        </p:nvSpPr>
        <p:spPr>
          <a:xfrm>
            <a:off x="4480560" y="342900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Row 1"/>
          <p:cNvSpPr txBox="1"/>
          <p:nvPr/>
        </p:nvSpPr>
        <p:spPr>
          <a:xfrm>
            <a:off x="4983480" y="342900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No brand, so we pushed</a:t>
            </a:r>
            <a:endParaRPr lang="en-US" sz="1800" dirty="0"/>
          </a:p>
        </p:txBody>
      </p:sp>
      <p:sp>
        <p:nvSpPr>
          <p:cNvPr id="9" name="Number 2"/>
          <p:cNvSpPr txBox="1"/>
          <p:nvPr/>
        </p:nvSpPr>
        <p:spPr>
          <a:xfrm>
            <a:off x="4480560" y="384048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Row 2"/>
          <p:cNvSpPr txBox="1"/>
          <p:nvPr/>
        </p:nvSpPr>
        <p:spPr>
          <a:xfrm>
            <a:off x="4983480" y="384048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Customers are not consumers</a:t>
            </a:r>
            <a:endParaRPr lang="en-US" sz="1800" dirty="0"/>
          </a:p>
        </p:txBody>
      </p:sp>
      <p:sp>
        <p:nvSpPr>
          <p:cNvPr id="11" name="Number 3"/>
          <p:cNvSpPr txBox="1"/>
          <p:nvPr/>
        </p:nvSpPr>
        <p:spPr>
          <a:xfrm>
            <a:off x="4480560" y="425196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Row 3"/>
          <p:cNvSpPr txBox="1"/>
          <p:nvPr/>
        </p:nvSpPr>
        <p:spPr>
          <a:xfrm>
            <a:off x="4983480" y="425196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Never leave value on the table</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54864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 name="Section label"/>
          <p:cNvSpPr txBox="1"/>
          <p:nvPr/>
        </p:nvSpPr>
        <p:spPr>
          <a:xfrm>
            <a:off x="109728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MY D2C JOURNEY</a:t>
            </a:r>
            <a:endParaRPr lang="en-US" sz="1400" dirty="0"/>
          </a:p>
        </p:txBody>
      </p:sp>
      <p:sp>
        <p:nvSpPr>
          <p:cNvPr id="4" name="Text 0"/>
          <p:cNvSpPr/>
          <p:nvPr>
            <p:ph idx="100" type="title" hasCustomPrompt="1"/>
          </p:nvPr>
        </p:nvSpPr>
        <p:spPr>
          <a:xfrm>
            <a:off x="548640" y="1143000"/>
            <a:ext cx="4480560" cy="1371600"/>
          </a:xfrm>
          <a:prstGeom prst="rect">
            <a:avLst/>
          </a:prstGeom>
          <a:noFill/>
          <a:ln/>
        </p:spPr>
        <p:txBody>
          <a:bodyPr wrap="square" lIns="0" tIns="0" rIns="0" bIns="0" rtlCol="0" anchor="t"/>
          <a:lstStyle/>
          <a:p>
            <a:pPr algn="l" indent="0" marL="0">
              <a:buNone/>
            </a:pPr>
            <a:r>
              <a:rPr lang="en-US" sz="3600" b="1" dirty="0">
                <a:solidFill>
                  <a:schemeClr val="tx2"/>
                </a:solidFill>
              </a:rPr>
              <a:t>No brand to pull, so we had to push</a:t>
            </a:r>
            <a:endParaRPr lang="en-US" sz="3600" dirty="0"/>
          </a:p>
        </p:txBody>
      </p:sp>
      <p:sp>
        <p:nvSpPr>
          <p:cNvPr id="5" name="Text 0"/>
          <p:cNvSpPr/>
          <p:nvPr>
            <p:ph idx="101" type="body" hasCustomPrompt="1"/>
          </p:nvPr>
        </p:nvSpPr>
        <p:spPr>
          <a:xfrm>
            <a:off x="548640" y="2651760"/>
            <a:ext cx="4297680" cy="914400"/>
          </a:xfrm>
          <a:prstGeom prst="rect">
            <a:avLst/>
          </a:prstGeom>
          <a:noFill/>
          <a:ln/>
        </p:spPr>
        <p:txBody>
          <a:bodyPr wrap="square" lIns="0" tIns="0" rIns="0" bIns="0" rtlCol="0" anchor="t"/>
          <a:lstStyle/>
          <a:p>
            <a:pPr algn="l" indent="0" marL="0">
              <a:buNone/>
            </a:pPr>
            <a:r>
              <a:rPr lang="en-US" sz="1800" dirty="0">
                <a:solidFill>
                  <a:schemeClr val="tx1"/>
                </a:solidFill>
              </a:rPr>
              <a:t>Nobody came looking for us. We took the product to them.</a:t>
            </a:r>
            <a:endParaRPr lang="en-US" sz="1800" dirty="0"/>
          </a:p>
        </p:txBody>
      </p:sp>
      <p:pic>
        <p:nvPicPr>
          <p:cNvPr id="6" name="Selling photo" descr="Showing a product to shoppers at the stall">    </p:cNvPr>
          <p:cNvPicPr>
            <a:picLocks noChangeAspect="1"/>
          </p:cNvPicPr>
          <p:nvPr/>
        </p:nvPicPr>
        <p:blipFill>
          <a:blip r:embed="rId1"/>
          <a:stretch>
            <a:fillRect/>
          </a:stretch>
        </p:blipFill>
        <p:spPr>
          <a:xfrm>
            <a:off x="5394960" y="457200"/>
            <a:ext cx="3291840" cy="422910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Pull vs Push</a:t>
            </a:r>
            <a:endParaRPr lang="en-US" sz="3600" dirty="0"/>
          </a:p>
        </p:txBody>
      </p:sp>
      <p:sp>
        <p:nvSpPr>
          <p:cNvPr id="3" name="Pull card"/>
          <p:cNvSpPr/>
          <p:nvPr/>
        </p:nvSpPr>
        <p:spPr>
          <a:xfrm>
            <a:off x="548640" y="1371600"/>
            <a:ext cx="3840480" cy="2468880"/>
          </a:xfrm>
          <a:prstGeom prst="roundRect">
            <a:avLst>
              <a:gd name="adj" fmla="val 5556"/>
            </a:avLst>
          </a:prstGeom>
          <a:solidFill>
            <a:schemeClr val="bg2"/>
          </a:solidFill>
          <a:ln/>
        </p:spPr>
      </p:sp>
      <p:sp>
        <p:nvSpPr>
          <p:cNvPr id="4" name="Pull icon circle"/>
          <p:cNvSpPr/>
          <p:nvPr/>
        </p:nvSpPr>
        <p:spPr>
          <a:xfrm>
            <a:off x="822960" y="1645920"/>
            <a:ext cx="640080" cy="640080"/>
          </a:xfrm>
          <a:prstGeom prst="ellipse">
            <a:avLst/>
          </a:prstGeom>
          <a:solidFill>
            <a:schemeClr val="accent3"/>
          </a:solidFill>
          <a:ln/>
        </p:spPr>
      </p:sp>
      <p:pic>
        <p:nvPicPr>
          <p:cNvPr id="5" name="Pull icon" descr="Pull icon">    </p:cNvPr>
          <p:cNvPicPr>
            <a:picLocks noChangeAspect="1"/>
          </p:cNvPicPr>
          <p:nvPr/>
        </p:nvPicPr>
        <p:blipFill>
          <a:blip r:embed="rId1"/>
          <a:stretch>
            <a:fillRect/>
          </a:stretch>
        </p:blipFill>
        <p:spPr>
          <a:xfrm>
            <a:off x="982980" y="1805940"/>
            <a:ext cx="320040" cy="320040"/>
          </a:xfrm>
          <a:prstGeom prst="rect">
            <a:avLst/>
          </a:prstGeom>
        </p:spPr>
      </p:pic>
      <p:sp>
        <p:nvSpPr>
          <p:cNvPr id="6" name="Pull heading"/>
          <p:cNvSpPr txBox="1"/>
          <p:nvPr/>
        </p:nvSpPr>
        <p:spPr>
          <a:xfrm>
            <a:off x="1645920" y="1645920"/>
            <a:ext cx="2560320" cy="640080"/>
          </a:xfrm>
          <a:prstGeom prst="rect">
            <a:avLst/>
          </a:prstGeom>
          <a:noFill/>
          <a:ln/>
        </p:spPr>
        <p:txBody>
          <a:bodyPr wrap="square" lIns="0" tIns="0" rIns="0" bIns="0" rtlCol="0" anchor="ctr"/>
          <a:lstStyle/>
          <a:p>
            <a:pPr indent="0" marL="0">
              <a:buNone/>
            </a:pPr>
            <a:r>
              <a:rPr lang="en-US" sz="2800" b="1" dirty="0">
                <a:solidFill>
                  <a:schemeClr val="tx2"/>
                </a:solidFill>
              </a:rPr>
              <a:t>PULL</a:t>
            </a:r>
            <a:endParaRPr lang="en-US" sz="2800" dirty="0"/>
          </a:p>
        </p:txBody>
      </p:sp>
      <p:sp>
        <p:nvSpPr>
          <p:cNvPr id="7" name="Pull text"/>
          <p:cNvSpPr txBox="1"/>
          <p:nvPr/>
        </p:nvSpPr>
        <p:spPr>
          <a:xfrm>
            <a:off x="822960" y="2514600"/>
            <a:ext cx="3291840" cy="109728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Customers come to you.</a:t>
            </a:r>
            <a:endParaRPr lang="en-US" sz="1800" dirty="0"/>
          </a:p>
          <a:p>
            <a:pPr indent="0" marL="0">
              <a:spcAft>
                <a:spcPts val="600"/>
              </a:spcAft>
              <a:buNone/>
            </a:pPr>
            <a:r>
              <a:rPr lang="en-US" sz="1800" dirty="0">
                <a:solidFill>
                  <a:schemeClr val="tx1"/>
                </a:solidFill>
              </a:rPr>
              <a:t>A known brand does the selling: ads, reviews, word of mouth.</a:t>
            </a:r>
            <a:endParaRPr lang="en-US" sz="1800" dirty="0"/>
          </a:p>
        </p:txBody>
      </p:sp>
      <p:sp>
        <p:nvSpPr>
          <p:cNvPr id="8" name="Push card"/>
          <p:cNvSpPr/>
          <p:nvPr/>
        </p:nvSpPr>
        <p:spPr>
          <a:xfrm>
            <a:off x="4754880" y="1371600"/>
            <a:ext cx="3840480" cy="2468880"/>
          </a:xfrm>
          <a:prstGeom prst="roundRect">
            <a:avLst>
              <a:gd name="adj" fmla="val 5556"/>
            </a:avLst>
          </a:prstGeom>
          <a:solidFill>
            <a:schemeClr val="tx2"/>
          </a:solidFill>
          <a:ln/>
        </p:spPr>
      </p:sp>
      <p:sp>
        <p:nvSpPr>
          <p:cNvPr id="9" name="Push icon circle"/>
          <p:cNvSpPr/>
          <p:nvPr/>
        </p:nvSpPr>
        <p:spPr>
          <a:xfrm>
            <a:off x="5029200" y="1645920"/>
            <a:ext cx="640080" cy="640080"/>
          </a:xfrm>
          <a:prstGeom prst="ellipse">
            <a:avLst/>
          </a:prstGeom>
          <a:solidFill>
            <a:schemeClr val="accent2"/>
          </a:solidFill>
          <a:ln/>
        </p:spPr>
      </p:sp>
      <p:pic>
        <p:nvPicPr>
          <p:cNvPr id="10" name="Push icon" descr="Push icon">    </p:cNvPr>
          <p:cNvPicPr>
            <a:picLocks noChangeAspect="1"/>
          </p:cNvPicPr>
          <p:nvPr/>
        </p:nvPicPr>
        <p:blipFill>
          <a:blip r:embed="rId2"/>
          <a:stretch>
            <a:fillRect/>
          </a:stretch>
        </p:blipFill>
        <p:spPr>
          <a:xfrm>
            <a:off x="5189220" y="1805940"/>
            <a:ext cx="320040" cy="320040"/>
          </a:xfrm>
          <a:prstGeom prst="rect">
            <a:avLst/>
          </a:prstGeom>
        </p:spPr>
      </p:pic>
      <p:sp>
        <p:nvSpPr>
          <p:cNvPr id="11" name="Push heading"/>
          <p:cNvSpPr txBox="1"/>
          <p:nvPr/>
        </p:nvSpPr>
        <p:spPr>
          <a:xfrm>
            <a:off x="5852160" y="1645920"/>
            <a:ext cx="2560320" cy="640080"/>
          </a:xfrm>
          <a:prstGeom prst="rect">
            <a:avLst/>
          </a:prstGeom>
          <a:noFill/>
          <a:ln/>
        </p:spPr>
        <p:txBody>
          <a:bodyPr wrap="square" lIns="0" tIns="0" rIns="0" bIns="0" rtlCol="0" anchor="ctr"/>
          <a:lstStyle/>
          <a:p>
            <a:pPr indent="0" marL="0">
              <a:buNone/>
            </a:pPr>
            <a:r>
              <a:rPr lang="en-US" sz="2800" b="1" dirty="0">
                <a:solidFill>
                  <a:schemeClr val="bg1"/>
                </a:solidFill>
              </a:rPr>
              <a:t>PUSH</a:t>
            </a:r>
            <a:endParaRPr lang="en-US" sz="2800" dirty="0"/>
          </a:p>
        </p:txBody>
      </p:sp>
      <p:sp>
        <p:nvSpPr>
          <p:cNvPr id="12" name="Push text"/>
          <p:cNvSpPr txBox="1"/>
          <p:nvPr/>
        </p:nvSpPr>
        <p:spPr>
          <a:xfrm>
            <a:off x="5029200" y="2514600"/>
            <a:ext cx="3291840" cy="1097280"/>
          </a:xfrm>
          <a:prstGeom prst="rect">
            <a:avLst/>
          </a:prstGeom>
          <a:noFill/>
          <a:ln/>
        </p:spPr>
        <p:txBody>
          <a:bodyPr wrap="square" lIns="0" tIns="0" rIns="0" bIns="0" rtlCol="0" anchor="t"/>
          <a:lstStyle/>
          <a:p>
            <a:pPr indent="0" marL="0">
              <a:spcAft>
                <a:spcPts val="600"/>
              </a:spcAft>
              <a:buNone/>
            </a:pPr>
            <a:r>
              <a:rPr lang="en-US" sz="1800" b="1" dirty="0">
                <a:solidFill>
                  <a:schemeClr val="bg1"/>
                </a:solidFill>
              </a:rPr>
              <a:t>You go to the customer.</a:t>
            </a:r>
            <a:endParaRPr lang="en-US" sz="1800" dirty="0"/>
          </a:p>
          <a:p>
            <a:pPr indent="0" marL="0">
              <a:spcAft>
                <a:spcPts val="600"/>
              </a:spcAft>
              <a:buNone/>
            </a:pPr>
            <a:r>
              <a:rPr lang="en-US" sz="1800" dirty="0">
                <a:solidFill>
                  <a:schemeClr val="bg1"/>
                </a:solidFill>
              </a:rPr>
              <a:t>You do the selling: in person, product in hand.</a:t>
            </a:r>
            <a:endParaRPr lang="en-US" sz="1800" dirty="0"/>
          </a:p>
        </p:txBody>
      </p:sp>
      <p:sp>
        <p:nvSpPr>
          <p:cNvPr id="13" name="Takeaway"/>
          <p:cNvSpPr txBox="1"/>
          <p:nvPr/>
        </p:nvSpPr>
        <p:spPr>
          <a:xfrm>
            <a:off x="548640" y="4114800"/>
            <a:ext cx="7680960" cy="457200"/>
          </a:xfrm>
          <a:prstGeom prst="rect">
            <a:avLst/>
          </a:prstGeom>
          <a:noFill/>
          <a:ln/>
        </p:spPr>
        <p:txBody>
          <a:bodyPr wrap="square" lIns="0" tIns="0" rIns="0" bIns="0" rtlCol="0" anchor="ctr"/>
          <a:lstStyle/>
          <a:p>
            <a:pPr indent="0" marL="0">
              <a:buNone/>
            </a:pPr>
            <a:r>
              <a:rPr lang="en-US" sz="2200" b="1" dirty="0">
                <a:solidFill>
                  <a:schemeClr val="tx2"/>
                </a:solidFill>
              </a:rPr>
              <a:t>Without a brand, push was our only option.</a:t>
            </a:r>
            <a:endParaRPr lang="en-US" sz="2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roduct photo" descr="A dog t-shirt on our table with the Instagram QR code">    </p:cNvPr>
          <p:cNvPicPr>
            <a:picLocks noChangeAspect="1"/>
          </p:cNvPicPr>
          <p:nvPr/>
        </p:nvPicPr>
        <p:blipFill>
          <a:blip r:embed="rId1"/>
          <a:stretch>
            <a:fillRect/>
          </a:stretch>
        </p:blipFill>
        <p:spPr>
          <a:xfrm>
            <a:off x="548640" y="457200"/>
            <a:ext cx="3291840" cy="4229100"/>
          </a:xfrm>
          <a:prstGeom prst="rect">
            <a:avLst/>
          </a:prstGeom>
        </p:spPr>
      </p:pic>
      <p:sp>
        <p:nvSpPr>
          <p:cNvPr id="3" name="Section number"/>
          <p:cNvSpPr txBox="1"/>
          <p:nvPr/>
        </p:nvSpPr>
        <p:spPr>
          <a:xfrm>
            <a:off x="448056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4" name="Section label"/>
          <p:cNvSpPr txBox="1"/>
          <p:nvPr/>
        </p:nvSpPr>
        <p:spPr>
          <a:xfrm>
            <a:off x="502920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SALES CHANNELS</a:t>
            </a:r>
            <a:endParaRPr lang="en-US" sz="1400" dirty="0"/>
          </a:p>
        </p:txBody>
      </p:sp>
      <p:sp>
        <p:nvSpPr>
          <p:cNvPr id="5" name="Text 0"/>
          <p:cNvSpPr/>
          <p:nvPr>
            <p:ph idx="100" type="title" hasCustomPrompt="1"/>
          </p:nvPr>
        </p:nvSpPr>
        <p:spPr>
          <a:xfrm>
            <a:off x="4480560" y="1143000"/>
            <a:ext cx="4114800" cy="1371600"/>
          </a:xfrm>
          <a:prstGeom prst="rect">
            <a:avLst/>
          </a:prstGeom>
          <a:noFill/>
          <a:ln/>
        </p:spPr>
        <p:txBody>
          <a:bodyPr wrap="square" lIns="0" tIns="0" rIns="0" bIns="0" rtlCol="0" anchor="t"/>
          <a:lstStyle/>
          <a:p>
            <a:pPr algn="l" indent="0" marL="0">
              <a:buNone/>
            </a:pPr>
            <a:r>
              <a:rPr lang="en-US" sz="3600" b="1" dirty="0">
                <a:solidFill>
                  <a:schemeClr val="tx2"/>
                </a:solidFill>
              </a:rPr>
              <a:t>Sales Channels &amp; Growth</a:t>
            </a:r>
            <a:endParaRPr lang="en-US" sz="3600" dirty="0"/>
          </a:p>
        </p:txBody>
      </p:sp>
      <p:sp>
        <p:nvSpPr>
          <p:cNvPr id="6" name="Text 0"/>
          <p:cNvSpPr/>
          <p:nvPr>
            <p:ph idx="101" type="body" hasCustomPrompt="1"/>
          </p:nvPr>
        </p:nvSpPr>
        <p:spPr>
          <a:xfrm>
            <a:off x="4480560" y="2651760"/>
            <a:ext cx="4114800" cy="914400"/>
          </a:xfrm>
          <a:prstGeom prst="rect">
            <a:avLst/>
          </a:prstGeom>
          <a:noFill/>
          <a:ln/>
        </p:spPr>
        <p:txBody>
          <a:bodyPr wrap="square" lIns="0" tIns="0" rIns="0" bIns="0" rtlCol="0" anchor="t"/>
          <a:lstStyle/>
          <a:p>
            <a:pPr algn="l" indent="0" marL="0">
              <a:buNone/>
            </a:pPr>
            <a:r>
              <a:rPr lang="en-US" sz="1800" dirty="0">
                <a:solidFill>
                  <a:schemeClr val="tx1"/>
                </a:solidFill>
              </a:rPr>
              <a:t>Sell where customers are. Scale what pays.</a:t>
            </a:r>
            <a:endParaRPr lang="en-US" sz="1800" dirty="0"/>
          </a:p>
        </p:txBody>
      </p:sp>
      <p:sp>
        <p:nvSpPr>
          <p:cNvPr id="7" name="Channel icon 1 circle"/>
          <p:cNvSpPr/>
          <p:nvPr/>
        </p:nvSpPr>
        <p:spPr>
          <a:xfrm>
            <a:off x="4480560" y="3383280"/>
            <a:ext cx="502920" cy="502920"/>
          </a:xfrm>
          <a:prstGeom prst="ellipse">
            <a:avLst/>
          </a:prstGeom>
          <a:solidFill>
            <a:schemeClr val="accent1"/>
          </a:solidFill>
          <a:ln/>
        </p:spPr>
      </p:sp>
      <p:pic>
        <p:nvPicPr>
          <p:cNvPr id="8" name="Channel icon 1" descr="Channel icon 1">    </p:cNvPr>
          <p:cNvPicPr>
            <a:picLocks noChangeAspect="1"/>
          </p:cNvPicPr>
          <p:nvPr/>
        </p:nvPicPr>
        <p:blipFill>
          <a:blip r:embed="rId2"/>
          <a:stretch>
            <a:fillRect/>
          </a:stretch>
        </p:blipFill>
        <p:spPr>
          <a:xfrm>
            <a:off x="4606290" y="3509010"/>
            <a:ext cx="251460" cy="251460"/>
          </a:xfrm>
          <a:prstGeom prst="rect">
            <a:avLst/>
          </a:prstGeom>
        </p:spPr>
      </p:pic>
      <p:sp>
        <p:nvSpPr>
          <p:cNvPr id="9" name="Channel 1"/>
          <p:cNvSpPr txBox="1"/>
          <p:nvPr/>
        </p:nvSpPr>
        <p:spPr>
          <a:xfrm>
            <a:off x="5120640" y="3383280"/>
            <a:ext cx="3474720" cy="502920"/>
          </a:xfrm>
          <a:prstGeom prst="rect">
            <a:avLst/>
          </a:prstGeom>
          <a:noFill/>
          <a:ln/>
        </p:spPr>
        <p:txBody>
          <a:bodyPr wrap="square" lIns="0" tIns="0" rIns="0" bIns="0" rtlCol="0" anchor="ctr"/>
          <a:lstStyle/>
          <a:p>
            <a:pPr indent="0" marL="0">
              <a:buNone/>
            </a:pPr>
            <a:r>
              <a:rPr lang="en-US" sz="1800" b="1" dirty="0">
                <a:solidFill>
                  <a:schemeClr val="tx1"/>
                </a:solidFill>
              </a:rPr>
              <a:t>Offline: our stall, face to face</a:t>
            </a:r>
            <a:endParaRPr lang="en-US" sz="1800" dirty="0"/>
          </a:p>
        </p:txBody>
      </p:sp>
      <p:sp>
        <p:nvSpPr>
          <p:cNvPr id="10" name="Channel icon 2 circle"/>
          <p:cNvSpPr/>
          <p:nvPr/>
        </p:nvSpPr>
        <p:spPr>
          <a:xfrm>
            <a:off x="4480560" y="4069080"/>
            <a:ext cx="502920" cy="502920"/>
          </a:xfrm>
          <a:prstGeom prst="ellipse">
            <a:avLst/>
          </a:prstGeom>
          <a:solidFill>
            <a:schemeClr val="accent1"/>
          </a:solidFill>
          <a:ln/>
        </p:spPr>
      </p:sp>
      <p:pic>
        <p:nvPicPr>
          <p:cNvPr id="11" name="Channel icon 2" descr="Channel icon 2">    </p:cNvPr>
          <p:cNvPicPr>
            <a:picLocks noChangeAspect="1"/>
          </p:cNvPicPr>
          <p:nvPr/>
        </p:nvPicPr>
        <p:blipFill>
          <a:blip r:embed="rId3"/>
          <a:stretch>
            <a:fillRect/>
          </a:stretch>
        </p:blipFill>
        <p:spPr>
          <a:xfrm>
            <a:off x="4606290" y="4194810"/>
            <a:ext cx="251460" cy="251460"/>
          </a:xfrm>
          <a:prstGeom prst="rect">
            <a:avLst/>
          </a:prstGeom>
        </p:spPr>
      </p:pic>
      <p:sp>
        <p:nvSpPr>
          <p:cNvPr id="12" name="Channel 2"/>
          <p:cNvSpPr txBox="1"/>
          <p:nvPr/>
        </p:nvSpPr>
        <p:spPr>
          <a:xfrm>
            <a:off x="5120640" y="4069080"/>
            <a:ext cx="3474720" cy="502920"/>
          </a:xfrm>
          <a:prstGeom prst="rect">
            <a:avLst/>
          </a:prstGeom>
          <a:noFill/>
          <a:ln/>
        </p:spPr>
        <p:txBody>
          <a:bodyPr wrap="square" lIns="0" tIns="0" rIns="0" bIns="0" rtlCol="0" anchor="ctr"/>
          <a:lstStyle/>
          <a:p>
            <a:pPr indent="0" marL="0">
              <a:buNone/>
            </a:pPr>
            <a:r>
              <a:rPr lang="en-US" sz="1800" b="1" dirty="0">
                <a:solidFill>
                  <a:schemeClr val="tx1"/>
                </a:solidFill>
              </a:rPr>
              <a:t>Online: Instagram (QR on table)</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54864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 name="Section label"/>
          <p:cNvSpPr txBox="1"/>
          <p:nvPr/>
        </p:nvSpPr>
        <p:spPr>
          <a:xfrm>
            <a:off x="109728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CUSTOMERS</a:t>
            </a:r>
            <a:endParaRPr lang="en-US" sz="1400" dirty="0"/>
          </a:p>
        </p:txBody>
      </p:sp>
      <p:sp>
        <p:nvSpPr>
          <p:cNvPr id="4" name="Text 0"/>
          <p:cNvSpPr/>
          <p:nvPr>
            <p:ph idx="100" type="title" hasCustomPrompt="1"/>
          </p:nvPr>
        </p:nvSpPr>
        <p:spPr>
          <a:xfrm>
            <a:off x="548640" y="1143000"/>
            <a:ext cx="4480560" cy="1371600"/>
          </a:xfrm>
          <a:prstGeom prst="rect">
            <a:avLst/>
          </a:prstGeom>
          <a:noFill/>
          <a:ln/>
        </p:spPr>
        <p:txBody>
          <a:bodyPr wrap="square" lIns="0" tIns="0" rIns="0" bIns="0" rtlCol="0" anchor="t"/>
          <a:lstStyle/>
          <a:p>
            <a:pPr algn="l" indent="0" marL="0">
              <a:buNone/>
            </a:pPr>
            <a:r>
              <a:rPr lang="en-US" sz="3600" b="1" dirty="0">
                <a:solidFill>
                  <a:schemeClr val="tx2"/>
                </a:solidFill>
              </a:rPr>
              <a:t>Our customers are not our consumers</a:t>
            </a:r>
            <a:endParaRPr lang="en-US" sz="3600" dirty="0"/>
          </a:p>
        </p:txBody>
      </p:sp>
      <p:sp>
        <p:nvSpPr>
          <p:cNvPr id="5" name="Text 0"/>
          <p:cNvSpPr/>
          <p:nvPr>
            <p:ph idx="101" type="body" hasCustomPrompt="1"/>
          </p:nvPr>
        </p:nvSpPr>
        <p:spPr>
          <a:xfrm>
            <a:off x="548640" y="2651760"/>
            <a:ext cx="4297680" cy="914400"/>
          </a:xfrm>
          <a:prstGeom prst="rect">
            <a:avLst/>
          </a:prstGeom>
          <a:noFill/>
          <a:ln/>
        </p:spPr>
        <p:txBody>
          <a:bodyPr wrap="square" lIns="0" tIns="0" rIns="0" bIns="0" rtlCol="0" anchor="t"/>
          <a:lstStyle/>
          <a:p>
            <a:pPr algn="l" indent="0" marL="0">
              <a:buNone/>
            </a:pPr>
            <a:r>
              <a:rPr lang="en-US" sz="1800" dirty="0">
                <a:solidFill>
                  <a:schemeClr val="tx1"/>
                </a:solidFill>
              </a:rPr>
              <a:t>The one who pays is not the one who uses.</a:t>
            </a:r>
            <a:endParaRPr lang="en-US" sz="1800" dirty="0"/>
          </a:p>
        </p:txBody>
      </p:sp>
      <p:pic>
        <p:nvPicPr>
          <p:cNvPr id="6" name="Catalogue photo" descr="A shopper flipping through our product catalogue">    </p:cNvPr>
          <p:cNvPicPr>
            <a:picLocks noChangeAspect="1"/>
          </p:cNvPicPr>
          <p:nvPr/>
        </p:nvPicPr>
        <p:blipFill>
          <a:blip r:embed="rId1"/>
          <a:stretch>
            <a:fillRect/>
          </a:stretch>
        </p:blipFill>
        <p:spPr>
          <a:xfrm>
            <a:off x="5394960" y="457200"/>
            <a:ext cx="3291840" cy="422910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Who Pays, Who Uses</a:t>
            </a:r>
            <a:endParaRPr lang="en-US" sz="3600" dirty="0"/>
          </a:p>
        </p:txBody>
      </p:sp>
      <p:sp>
        <p:nvSpPr>
          <p:cNvPr id="3" name="Customer card"/>
          <p:cNvSpPr/>
          <p:nvPr/>
        </p:nvSpPr>
        <p:spPr>
          <a:xfrm>
            <a:off x="548640" y="1371600"/>
            <a:ext cx="3566160" cy="2286000"/>
          </a:xfrm>
          <a:prstGeom prst="roundRect">
            <a:avLst>
              <a:gd name="adj" fmla="val 6000"/>
            </a:avLst>
          </a:prstGeom>
          <a:solidFill>
            <a:schemeClr val="bg2"/>
          </a:solidFill>
          <a:ln/>
        </p:spPr>
      </p:sp>
      <p:sp>
        <p:nvSpPr>
          <p:cNvPr id="4" name="Customer icon circle"/>
          <p:cNvSpPr/>
          <p:nvPr/>
        </p:nvSpPr>
        <p:spPr>
          <a:xfrm>
            <a:off x="822960" y="1645920"/>
            <a:ext cx="731520" cy="731520"/>
          </a:xfrm>
          <a:prstGeom prst="ellipse">
            <a:avLst/>
          </a:prstGeom>
          <a:solidFill>
            <a:schemeClr val="accent1"/>
          </a:solidFill>
          <a:ln/>
        </p:spPr>
      </p:sp>
      <p:pic>
        <p:nvPicPr>
          <p:cNvPr id="5" name="Customer icon" descr="Customer icon">    </p:cNvPr>
          <p:cNvPicPr>
            <a:picLocks noChangeAspect="1"/>
          </p:cNvPicPr>
          <p:nvPr/>
        </p:nvPicPr>
        <p:blipFill>
          <a:blip r:embed="rId1"/>
          <a:stretch>
            <a:fillRect/>
          </a:stretch>
        </p:blipFill>
        <p:spPr>
          <a:xfrm>
            <a:off x="1005840" y="1828800"/>
            <a:ext cx="365760" cy="365760"/>
          </a:xfrm>
          <a:prstGeom prst="rect">
            <a:avLst/>
          </a:prstGeom>
        </p:spPr>
      </p:pic>
      <p:sp>
        <p:nvSpPr>
          <p:cNvPr id="6" name="Customer tag"/>
          <p:cNvSpPr txBox="1"/>
          <p:nvPr/>
        </p:nvSpPr>
        <p:spPr>
          <a:xfrm>
            <a:off x="822960" y="2560320"/>
            <a:ext cx="30175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OUR CUSTOMER</a:t>
            </a:r>
            <a:endParaRPr lang="en-US" sz="1200" dirty="0"/>
          </a:p>
        </p:txBody>
      </p:sp>
      <p:sp>
        <p:nvSpPr>
          <p:cNvPr id="7" name="Customer name"/>
          <p:cNvSpPr txBox="1"/>
          <p:nvPr/>
        </p:nvSpPr>
        <p:spPr>
          <a:xfrm>
            <a:off x="822960" y="2788920"/>
            <a:ext cx="3017520" cy="411480"/>
          </a:xfrm>
          <a:prstGeom prst="rect">
            <a:avLst/>
          </a:prstGeom>
          <a:noFill/>
          <a:ln/>
        </p:spPr>
        <p:txBody>
          <a:bodyPr wrap="square" lIns="0" tIns="0" rIns="0" bIns="0" rtlCol="0" anchor="ctr"/>
          <a:lstStyle/>
          <a:p>
            <a:pPr indent="0" marL="0">
              <a:buNone/>
            </a:pPr>
            <a:r>
              <a:rPr lang="en-US" sz="2400" b="1" dirty="0">
                <a:solidFill>
                  <a:schemeClr val="tx2"/>
                </a:solidFill>
              </a:rPr>
              <a:t>The pet parent</a:t>
            </a:r>
            <a:endParaRPr lang="en-US" sz="2400" dirty="0"/>
          </a:p>
        </p:txBody>
      </p:sp>
      <p:sp>
        <p:nvSpPr>
          <p:cNvPr id="8" name="Customer role"/>
          <p:cNvSpPr txBox="1"/>
          <p:nvPr/>
        </p:nvSpPr>
        <p:spPr>
          <a:xfrm>
            <a:off x="822960" y="3200400"/>
            <a:ext cx="3017520" cy="320040"/>
          </a:xfrm>
          <a:prstGeom prst="rect">
            <a:avLst/>
          </a:prstGeom>
          <a:noFill/>
          <a:ln/>
        </p:spPr>
        <p:txBody>
          <a:bodyPr wrap="square" lIns="0" tIns="0" rIns="0" bIns="0" rtlCol="0" anchor="ctr"/>
          <a:lstStyle/>
          <a:p>
            <a:pPr indent="0" marL="0">
              <a:buNone/>
            </a:pPr>
            <a:r>
              <a:rPr lang="en-US" sz="1600" dirty="0">
                <a:solidFill>
                  <a:schemeClr val="tx1"/>
                </a:solidFill>
              </a:rPr>
              <a:t>Pays and decides</a:t>
            </a:r>
            <a:endParaRPr lang="en-US" sz="1600" dirty="0"/>
          </a:p>
        </p:txBody>
      </p:sp>
      <p:sp>
        <p:nvSpPr>
          <p:cNvPr id="9" name="Arrow"/>
          <p:cNvSpPr/>
          <p:nvPr/>
        </p:nvSpPr>
        <p:spPr>
          <a:xfrm>
            <a:off x="4206240" y="2514600"/>
            <a:ext cx="731520" cy="0"/>
          </a:xfrm>
          <a:prstGeom prst="line">
            <a:avLst/>
          </a:prstGeom>
          <a:noFill/>
          <a:ln w="50800">
            <a:solidFill>
              <a:schemeClr val="accent2"/>
            </a:solidFill>
            <a:prstDash val="solid"/>
            <a:tailEnd type="triangle"/>
          </a:ln>
        </p:spPr>
      </p:sp>
      <p:sp>
        <p:nvSpPr>
          <p:cNvPr id="10" name="Consumer card"/>
          <p:cNvSpPr/>
          <p:nvPr/>
        </p:nvSpPr>
        <p:spPr>
          <a:xfrm>
            <a:off x="5029200" y="1371600"/>
            <a:ext cx="3566160" cy="2286000"/>
          </a:xfrm>
          <a:prstGeom prst="roundRect">
            <a:avLst>
              <a:gd name="adj" fmla="val 6000"/>
            </a:avLst>
          </a:prstGeom>
          <a:solidFill>
            <a:schemeClr val="tx2"/>
          </a:solidFill>
          <a:ln/>
        </p:spPr>
      </p:sp>
      <p:sp>
        <p:nvSpPr>
          <p:cNvPr id="11" name="Consumer icon circle"/>
          <p:cNvSpPr/>
          <p:nvPr/>
        </p:nvSpPr>
        <p:spPr>
          <a:xfrm>
            <a:off x="5303520" y="1645920"/>
            <a:ext cx="731520" cy="731520"/>
          </a:xfrm>
          <a:prstGeom prst="ellipse">
            <a:avLst/>
          </a:prstGeom>
          <a:solidFill>
            <a:schemeClr val="accent2"/>
          </a:solidFill>
          <a:ln/>
        </p:spPr>
      </p:sp>
      <p:pic>
        <p:nvPicPr>
          <p:cNvPr id="12" name="Consumer icon" descr="Consumer icon">    </p:cNvPr>
          <p:cNvPicPr>
            <a:picLocks noChangeAspect="1"/>
          </p:cNvPicPr>
          <p:nvPr/>
        </p:nvPicPr>
        <p:blipFill>
          <a:blip r:embed="rId2"/>
          <a:stretch>
            <a:fillRect/>
          </a:stretch>
        </p:blipFill>
        <p:spPr>
          <a:xfrm>
            <a:off x="5486400" y="1828800"/>
            <a:ext cx="365760" cy="365760"/>
          </a:xfrm>
          <a:prstGeom prst="rect">
            <a:avLst/>
          </a:prstGeom>
        </p:spPr>
      </p:pic>
      <p:sp>
        <p:nvSpPr>
          <p:cNvPr id="13" name="Consumer tag"/>
          <p:cNvSpPr txBox="1"/>
          <p:nvPr/>
        </p:nvSpPr>
        <p:spPr>
          <a:xfrm>
            <a:off x="5303520" y="2560320"/>
            <a:ext cx="301752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OUR CONSUMER</a:t>
            </a:r>
            <a:endParaRPr lang="en-US" sz="1200" dirty="0"/>
          </a:p>
        </p:txBody>
      </p:sp>
      <p:sp>
        <p:nvSpPr>
          <p:cNvPr id="14" name="Consumer name"/>
          <p:cNvSpPr txBox="1"/>
          <p:nvPr/>
        </p:nvSpPr>
        <p:spPr>
          <a:xfrm>
            <a:off x="5303520" y="2788920"/>
            <a:ext cx="3017520" cy="411480"/>
          </a:xfrm>
          <a:prstGeom prst="rect">
            <a:avLst/>
          </a:prstGeom>
          <a:noFill/>
          <a:ln/>
        </p:spPr>
        <p:txBody>
          <a:bodyPr wrap="square" lIns="0" tIns="0" rIns="0" bIns="0" rtlCol="0" anchor="ctr"/>
          <a:lstStyle/>
          <a:p>
            <a:pPr indent="0" marL="0">
              <a:buNone/>
            </a:pPr>
            <a:r>
              <a:rPr lang="en-US" sz="2400" b="1" dirty="0">
                <a:solidFill>
                  <a:schemeClr val="bg1"/>
                </a:solidFill>
              </a:rPr>
              <a:t>The pet</a:t>
            </a:r>
            <a:endParaRPr lang="en-US" sz="2400" dirty="0"/>
          </a:p>
        </p:txBody>
      </p:sp>
      <p:sp>
        <p:nvSpPr>
          <p:cNvPr id="15" name="Consumer role"/>
          <p:cNvSpPr txBox="1"/>
          <p:nvPr/>
        </p:nvSpPr>
        <p:spPr>
          <a:xfrm>
            <a:off x="5303520" y="3200400"/>
            <a:ext cx="3017520" cy="320040"/>
          </a:xfrm>
          <a:prstGeom prst="rect">
            <a:avLst/>
          </a:prstGeom>
          <a:noFill/>
          <a:ln/>
        </p:spPr>
        <p:txBody>
          <a:bodyPr wrap="square" lIns="0" tIns="0" rIns="0" bIns="0" rtlCol="0" anchor="ctr"/>
          <a:lstStyle/>
          <a:p>
            <a:pPr indent="0" marL="0">
              <a:buNone/>
            </a:pPr>
            <a:r>
              <a:rPr lang="en-US" sz="1600" dirty="0">
                <a:solidFill>
                  <a:schemeClr val="bg1"/>
                </a:solidFill>
              </a:rPr>
              <a:t>Wears and uses</a:t>
            </a:r>
            <a:endParaRPr lang="en-US" sz="1600" dirty="0"/>
          </a:p>
        </p:txBody>
      </p:sp>
      <p:sp>
        <p:nvSpPr>
          <p:cNvPr id="16" name="Takeaway"/>
          <p:cNvSpPr txBox="1"/>
          <p:nvPr/>
        </p:nvSpPr>
        <p:spPr>
          <a:xfrm>
            <a:off x="548640" y="4023360"/>
            <a:ext cx="8046720" cy="457200"/>
          </a:xfrm>
          <a:prstGeom prst="rect">
            <a:avLst/>
          </a:prstGeom>
          <a:noFill/>
          <a:ln/>
        </p:spPr>
        <p:txBody>
          <a:bodyPr wrap="square" lIns="0" tIns="0" rIns="0" bIns="0" rtlCol="0" anchor="ctr"/>
          <a:lstStyle/>
          <a:p>
            <a:pPr indent="0" marL="0">
              <a:buNone/>
            </a:pPr>
            <a:r>
              <a:rPr lang="en-US" sz="2400" b="1" dirty="0">
                <a:solidFill>
                  <a:schemeClr val="tx2"/>
                </a:solidFill>
              </a:rPr>
              <a:t>Win the parent. Delight the pet.</a:t>
            </a:r>
            <a:endParaRPr lang="en-US" sz="2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Customer photo" descr="Our team talking to a customer at the stall">    </p:cNvPr>
          <p:cNvPicPr>
            <a:picLocks noChangeAspect="1"/>
          </p:cNvPicPr>
          <p:nvPr/>
        </p:nvPicPr>
        <p:blipFill>
          <a:blip r:embed="rId1"/>
          <a:stretch>
            <a:fillRect/>
          </a:stretch>
        </p:blipFill>
        <p:spPr>
          <a:xfrm>
            <a:off x="548640" y="457200"/>
            <a:ext cx="3291840" cy="4229100"/>
          </a:xfrm>
          <a:prstGeom prst="rect">
            <a:avLst/>
          </a:prstGeom>
        </p:spPr>
      </p:pic>
      <p:sp>
        <p:nvSpPr>
          <p:cNvPr id="3" name="Section number"/>
          <p:cNvSpPr txBox="1"/>
          <p:nvPr/>
        </p:nvSpPr>
        <p:spPr>
          <a:xfrm>
            <a:off x="448056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4" name="Section label"/>
          <p:cNvSpPr txBox="1"/>
          <p:nvPr/>
        </p:nvSpPr>
        <p:spPr>
          <a:xfrm>
            <a:off x="502920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CUSTOMERS</a:t>
            </a:r>
            <a:endParaRPr lang="en-US" sz="1400" dirty="0"/>
          </a:p>
        </p:txBody>
      </p:sp>
      <p:sp>
        <p:nvSpPr>
          <p:cNvPr id="5" name="Text 0"/>
          <p:cNvSpPr/>
          <p:nvPr>
            <p:ph idx="100" type="title" hasCustomPrompt="1"/>
          </p:nvPr>
        </p:nvSpPr>
        <p:spPr>
          <a:xfrm>
            <a:off x="4480560" y="1143000"/>
            <a:ext cx="4114800" cy="1371600"/>
          </a:xfrm>
          <a:prstGeom prst="rect">
            <a:avLst/>
          </a:prstGeom>
          <a:noFill/>
          <a:ln/>
        </p:spPr>
        <p:txBody>
          <a:bodyPr wrap="square" lIns="0" tIns="0" rIns="0" bIns="0" rtlCol="0" anchor="t"/>
          <a:lstStyle/>
          <a:p>
            <a:pPr algn="l" indent="0" marL="0">
              <a:buNone/>
            </a:pPr>
            <a:r>
              <a:rPr lang="en-US" sz="3600" b="1" dirty="0">
                <a:solidFill>
                  <a:schemeClr val="tx2"/>
                </a:solidFill>
              </a:rPr>
              <a:t>Smartly judge the customer</a:t>
            </a:r>
            <a:endParaRPr lang="en-US" sz="3600" dirty="0"/>
          </a:p>
        </p:txBody>
      </p:sp>
      <p:sp>
        <p:nvSpPr>
          <p:cNvPr id="6" name="Text 0"/>
          <p:cNvSpPr/>
          <p:nvPr>
            <p:ph idx="101" type="body" hasCustomPrompt="1"/>
          </p:nvPr>
        </p:nvSpPr>
        <p:spPr>
          <a:xfrm>
            <a:off x="4480560" y="2651760"/>
            <a:ext cx="4114800" cy="914400"/>
          </a:xfrm>
          <a:prstGeom prst="rect">
            <a:avLst/>
          </a:prstGeom>
          <a:noFill/>
          <a:ln/>
        </p:spPr>
        <p:txBody>
          <a:bodyPr wrap="square" lIns="0" tIns="0" rIns="0" bIns="0" rtlCol="0" anchor="t"/>
          <a:lstStyle/>
          <a:p>
            <a:pPr algn="l" indent="0" marL="0">
              <a:buNone/>
            </a:pPr>
            <a:r>
              <a:rPr lang="en-US" sz="1800" dirty="0">
                <a:solidFill>
                  <a:schemeClr val="tx1"/>
                </a:solidFill>
              </a:rPr>
              <a:t>Read them first, then tailor the pitch.</a:t>
            </a:r>
            <a:endParaRPr lang="en-US" sz="1800" dirty="0"/>
          </a:p>
        </p:txBody>
      </p:sp>
      <p:sp>
        <p:nvSpPr>
          <p:cNvPr id="7" name="Number 1"/>
          <p:cNvSpPr txBox="1"/>
          <p:nvPr/>
        </p:nvSpPr>
        <p:spPr>
          <a:xfrm>
            <a:off x="4480560" y="342900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Row 1"/>
          <p:cNvSpPr txBox="1"/>
          <p:nvPr/>
        </p:nvSpPr>
        <p:spPr>
          <a:xfrm>
            <a:off x="4983480" y="342900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Look: who are they shopping for?</a:t>
            </a:r>
            <a:endParaRPr lang="en-US" sz="1800" dirty="0"/>
          </a:p>
        </p:txBody>
      </p:sp>
      <p:sp>
        <p:nvSpPr>
          <p:cNvPr id="9" name="Number 2"/>
          <p:cNvSpPr txBox="1"/>
          <p:nvPr/>
        </p:nvSpPr>
        <p:spPr>
          <a:xfrm>
            <a:off x="4480560" y="384048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Row 2"/>
          <p:cNvSpPr txBox="1"/>
          <p:nvPr/>
        </p:nvSpPr>
        <p:spPr>
          <a:xfrm>
            <a:off x="4983480" y="384048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Ask: what does their pet need?</a:t>
            </a:r>
            <a:endParaRPr lang="en-US" sz="1800" dirty="0"/>
          </a:p>
        </p:txBody>
      </p:sp>
      <p:sp>
        <p:nvSpPr>
          <p:cNvPr id="11" name="Number 3"/>
          <p:cNvSpPr txBox="1"/>
          <p:nvPr/>
        </p:nvSpPr>
        <p:spPr>
          <a:xfrm>
            <a:off x="4480560" y="425196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Row 3"/>
          <p:cNvSpPr txBox="1"/>
          <p:nvPr/>
        </p:nvSpPr>
        <p:spPr>
          <a:xfrm>
            <a:off x="4983480" y="425196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Tailor: the pitch, combo and price</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number"/>
          <p:cNvSpPr txBox="1"/>
          <p:nvPr/>
        </p:nvSpPr>
        <p:spPr>
          <a:xfrm>
            <a:off x="54864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 name="Section label"/>
          <p:cNvSpPr txBox="1"/>
          <p:nvPr/>
        </p:nvSpPr>
        <p:spPr>
          <a:xfrm>
            <a:off x="109728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PRICING &amp; PROFIT</a:t>
            </a:r>
            <a:endParaRPr lang="en-US" sz="1400" dirty="0"/>
          </a:p>
        </p:txBody>
      </p:sp>
      <p:sp>
        <p:nvSpPr>
          <p:cNvPr id="4" name="Text 0"/>
          <p:cNvSpPr/>
          <p:nvPr>
            <p:ph idx="100" type="title" hasCustomPrompt="1"/>
          </p:nvPr>
        </p:nvSpPr>
        <p:spPr>
          <a:xfrm>
            <a:off x="548640" y="1143000"/>
            <a:ext cx="4480560" cy="1371600"/>
          </a:xfrm>
          <a:prstGeom prst="rect">
            <a:avLst/>
          </a:prstGeom>
          <a:noFill/>
          <a:ln/>
        </p:spPr>
        <p:txBody>
          <a:bodyPr wrap="square" lIns="0" tIns="0" rIns="0" bIns="0" rtlCol="0" anchor="t"/>
          <a:lstStyle/>
          <a:p>
            <a:pPr algn="l" indent="0" marL="0">
              <a:buNone/>
            </a:pPr>
            <a:r>
              <a:rPr lang="en-US" sz="3600" b="1" dirty="0">
                <a:solidFill>
                  <a:schemeClr val="tx2"/>
                </a:solidFill>
              </a:rPr>
              <a:t>Value product, not volume product</a:t>
            </a:r>
            <a:endParaRPr lang="en-US" sz="3600" dirty="0"/>
          </a:p>
        </p:txBody>
      </p:sp>
      <p:sp>
        <p:nvSpPr>
          <p:cNvPr id="5" name="Text 0"/>
          <p:cNvSpPr/>
          <p:nvPr>
            <p:ph idx="101" type="body" hasCustomPrompt="1"/>
          </p:nvPr>
        </p:nvSpPr>
        <p:spPr>
          <a:xfrm>
            <a:off x="548640" y="2651760"/>
            <a:ext cx="4297680" cy="914400"/>
          </a:xfrm>
          <a:prstGeom prst="rect">
            <a:avLst/>
          </a:prstGeom>
          <a:noFill/>
          <a:ln/>
        </p:spPr>
        <p:txBody>
          <a:bodyPr wrap="square" lIns="0" tIns="0" rIns="0" bIns="0" rtlCol="0" anchor="t"/>
          <a:lstStyle/>
          <a:p>
            <a:pPr algn="l" indent="0" marL="0">
              <a:buNone/>
            </a:pPr>
            <a:r>
              <a:rPr lang="en-US" sz="1800" dirty="0">
                <a:solidFill>
                  <a:schemeClr val="tx1"/>
                </a:solidFill>
              </a:rPr>
              <a:t>Fewer, better sales beat many cheap ones.</a:t>
            </a:r>
            <a:endParaRPr lang="en-US" sz="1800" dirty="0"/>
          </a:p>
        </p:txBody>
      </p:sp>
      <p:pic>
        <p:nvPicPr>
          <p:cNvPr id="6" name="Checkout photo" descr="Customers paying at our stall by QR code">    </p:cNvPr>
          <p:cNvPicPr>
            <a:picLocks noChangeAspect="1"/>
          </p:cNvPicPr>
          <p:nvPr/>
        </p:nvPicPr>
        <p:blipFill>
          <a:blip r:embed="rId1"/>
          <a:stretch>
            <a:fillRect/>
          </a:stretch>
        </p:blipFill>
        <p:spPr>
          <a:xfrm>
            <a:off x="5029200" y="1234440"/>
            <a:ext cx="3566160" cy="2651760"/>
          </a:xfrm>
          <a:prstGeom prst="rect">
            <a:avLst/>
          </a:prstGeom>
        </p:spPr>
      </p:pic>
      <p:sp>
        <p:nvSpPr>
          <p:cNvPr id="7" name="Photo caption"/>
          <p:cNvSpPr txBox="1"/>
          <p:nvPr/>
        </p:nvSpPr>
        <p:spPr>
          <a:xfrm>
            <a:off x="5029200" y="4023360"/>
            <a:ext cx="3566160" cy="274320"/>
          </a:xfrm>
          <a:prstGeom prst="rect">
            <a:avLst/>
          </a:prstGeom>
          <a:noFill/>
          <a:ln/>
        </p:spPr>
        <p:txBody>
          <a:bodyPr wrap="square" lIns="0" tIns="0" rIns="0" bIns="0" rtlCol="0" anchor="ctr"/>
          <a:lstStyle/>
          <a:p>
            <a:pPr indent="0" marL="0">
              <a:buNone/>
            </a:pPr>
            <a:r>
              <a:rPr lang="en-US" sz="1200" dirty="0">
                <a:solidFill>
                  <a:schemeClr val="tx1"/>
                </a:solidFill>
              </a:rPr>
              <a:t>Paying at the stall</a:t>
            </a:r>
            <a:endParaRPr lang="en-US" sz="1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Value vs Volume</a:t>
            </a:r>
            <a:endParaRPr lang="en-US" sz="3600" dirty="0"/>
          </a:p>
        </p:txBody>
      </p:sp>
      <p:sp>
        <p:nvSpPr>
          <p:cNvPr id="3" name="Volume card"/>
          <p:cNvSpPr/>
          <p:nvPr/>
        </p:nvSpPr>
        <p:spPr>
          <a:xfrm>
            <a:off x="548640" y="1371600"/>
            <a:ext cx="3840480" cy="2514600"/>
          </a:xfrm>
          <a:prstGeom prst="roundRect">
            <a:avLst>
              <a:gd name="adj" fmla="val 5455"/>
            </a:avLst>
          </a:prstGeom>
          <a:solidFill>
            <a:schemeClr val="bg2"/>
          </a:solidFill>
          <a:ln/>
        </p:spPr>
      </p:sp>
      <p:sp>
        <p:nvSpPr>
          <p:cNvPr id="4" name="Volume heading"/>
          <p:cNvSpPr txBox="1"/>
          <p:nvPr/>
        </p:nvSpPr>
        <p:spPr>
          <a:xfrm>
            <a:off x="822960" y="1554480"/>
            <a:ext cx="3291840" cy="457200"/>
          </a:xfrm>
          <a:prstGeom prst="rect">
            <a:avLst/>
          </a:prstGeom>
          <a:noFill/>
          <a:ln/>
        </p:spPr>
        <p:txBody>
          <a:bodyPr wrap="square" lIns="0" tIns="0" rIns="0" bIns="0" rtlCol="0" anchor="ctr"/>
          <a:lstStyle/>
          <a:p>
            <a:pPr indent="0" marL="0">
              <a:buNone/>
            </a:pPr>
            <a:r>
              <a:rPr lang="en-US" sz="2800" b="1" dirty="0">
                <a:solidFill>
                  <a:schemeClr val="tx1"/>
                </a:solidFill>
              </a:rPr>
              <a:t>VOLUME</a:t>
            </a:r>
            <a:endParaRPr lang="en-US" sz="2800" dirty="0"/>
          </a:p>
        </p:txBody>
      </p:sp>
      <p:pic>
        <p:nvPicPr>
          <p:cNvPr id="5" name="Volume bullet 1" descr="preencoded.png">    </p:cNvPr>
          <p:cNvPicPr>
            <a:picLocks noChangeAspect="1"/>
          </p:cNvPicPr>
          <p:nvPr/>
        </p:nvPicPr>
        <p:blipFill>
          <a:blip r:embed="rId1"/>
          <a:stretch>
            <a:fillRect/>
          </a:stretch>
        </p:blipFill>
        <p:spPr>
          <a:xfrm>
            <a:off x="822960" y="2249424"/>
            <a:ext cx="274320" cy="274320"/>
          </a:xfrm>
          <a:prstGeom prst="rect">
            <a:avLst/>
          </a:prstGeom>
        </p:spPr>
      </p:pic>
      <p:sp>
        <p:nvSpPr>
          <p:cNvPr id="6" name="Volume point 1"/>
          <p:cNvSpPr txBox="1"/>
          <p:nvPr/>
        </p:nvSpPr>
        <p:spPr>
          <a:xfrm>
            <a:off x="1234440" y="2194560"/>
            <a:ext cx="3017520" cy="384048"/>
          </a:xfrm>
          <a:prstGeom prst="rect">
            <a:avLst/>
          </a:prstGeom>
          <a:noFill/>
          <a:ln/>
        </p:spPr>
        <p:txBody>
          <a:bodyPr wrap="square" lIns="0" tIns="0" rIns="0" bIns="0" rtlCol="0" anchor="ctr"/>
          <a:lstStyle/>
          <a:p>
            <a:pPr indent="0" marL="0">
              <a:buNone/>
            </a:pPr>
            <a:r>
              <a:rPr lang="en-US" sz="1800" dirty="0">
                <a:solidFill>
                  <a:schemeClr val="tx1"/>
                </a:solidFill>
              </a:rPr>
              <a:t>Low price, many units</a:t>
            </a:r>
            <a:endParaRPr lang="en-US" sz="1800" dirty="0"/>
          </a:p>
        </p:txBody>
      </p:sp>
      <p:pic>
        <p:nvPicPr>
          <p:cNvPr id="7" name="Volume bullet 2" descr="preencoded.png">    </p:cNvPr>
          <p:cNvPicPr>
            <a:picLocks noChangeAspect="1"/>
          </p:cNvPicPr>
          <p:nvPr/>
        </p:nvPicPr>
        <p:blipFill>
          <a:blip r:embed="rId2"/>
          <a:stretch>
            <a:fillRect/>
          </a:stretch>
        </p:blipFill>
        <p:spPr>
          <a:xfrm>
            <a:off x="822960" y="2779776"/>
            <a:ext cx="274320" cy="274320"/>
          </a:xfrm>
          <a:prstGeom prst="rect">
            <a:avLst/>
          </a:prstGeom>
        </p:spPr>
      </p:pic>
      <p:sp>
        <p:nvSpPr>
          <p:cNvPr id="8" name="Volume point 2"/>
          <p:cNvSpPr txBox="1"/>
          <p:nvPr/>
        </p:nvSpPr>
        <p:spPr>
          <a:xfrm>
            <a:off x="1234440" y="2724912"/>
            <a:ext cx="3017520" cy="384048"/>
          </a:xfrm>
          <a:prstGeom prst="rect">
            <a:avLst/>
          </a:prstGeom>
          <a:noFill/>
          <a:ln/>
        </p:spPr>
        <p:txBody>
          <a:bodyPr wrap="square" lIns="0" tIns="0" rIns="0" bIns="0" rtlCol="0" anchor="ctr"/>
          <a:lstStyle/>
          <a:p>
            <a:pPr indent="0" marL="0">
              <a:buNone/>
            </a:pPr>
            <a:r>
              <a:rPr lang="en-US" sz="1800" dirty="0">
                <a:solidFill>
                  <a:schemeClr val="tx1"/>
                </a:solidFill>
              </a:rPr>
              <a:t>Thin margin on every sale</a:t>
            </a:r>
            <a:endParaRPr lang="en-US" sz="1800" dirty="0"/>
          </a:p>
        </p:txBody>
      </p:sp>
      <p:pic>
        <p:nvPicPr>
          <p:cNvPr id="9" name="Volume bullet 3" descr="preencoded.png">    </p:cNvPr>
          <p:cNvPicPr>
            <a:picLocks noChangeAspect="1"/>
          </p:cNvPicPr>
          <p:nvPr/>
        </p:nvPicPr>
        <p:blipFill>
          <a:blip r:embed="rId3"/>
          <a:stretch>
            <a:fillRect/>
          </a:stretch>
        </p:blipFill>
        <p:spPr>
          <a:xfrm>
            <a:off x="822960" y="3310128"/>
            <a:ext cx="274320" cy="274320"/>
          </a:xfrm>
          <a:prstGeom prst="rect">
            <a:avLst/>
          </a:prstGeom>
        </p:spPr>
      </p:pic>
      <p:sp>
        <p:nvSpPr>
          <p:cNvPr id="10" name="Volume point 3"/>
          <p:cNvSpPr txBox="1"/>
          <p:nvPr/>
        </p:nvSpPr>
        <p:spPr>
          <a:xfrm>
            <a:off x="1234440" y="3255264"/>
            <a:ext cx="3017520" cy="384048"/>
          </a:xfrm>
          <a:prstGeom prst="rect">
            <a:avLst/>
          </a:prstGeom>
          <a:noFill/>
          <a:ln/>
        </p:spPr>
        <p:txBody>
          <a:bodyPr wrap="square" lIns="0" tIns="0" rIns="0" bIns="0" rtlCol="0" anchor="ctr"/>
          <a:lstStyle/>
          <a:p>
            <a:pPr indent="0" marL="0">
              <a:buNone/>
            </a:pPr>
            <a:r>
              <a:rPr lang="en-US" sz="1800" dirty="0">
                <a:solidFill>
                  <a:schemeClr val="tx1"/>
                </a:solidFill>
              </a:rPr>
              <a:t>Needs big reach to work</a:t>
            </a:r>
            <a:endParaRPr lang="en-US" sz="1800" dirty="0"/>
          </a:p>
        </p:txBody>
      </p:sp>
      <p:sp>
        <p:nvSpPr>
          <p:cNvPr id="11" name="Value card"/>
          <p:cNvSpPr/>
          <p:nvPr/>
        </p:nvSpPr>
        <p:spPr>
          <a:xfrm>
            <a:off x="4754880" y="1371600"/>
            <a:ext cx="3840480" cy="2514600"/>
          </a:xfrm>
          <a:prstGeom prst="roundRect">
            <a:avLst>
              <a:gd name="adj" fmla="val 5455"/>
            </a:avLst>
          </a:prstGeom>
          <a:solidFill>
            <a:schemeClr val="tx2"/>
          </a:solidFill>
          <a:ln/>
        </p:spPr>
      </p:sp>
      <p:sp>
        <p:nvSpPr>
          <p:cNvPr id="12" name="Value heading"/>
          <p:cNvSpPr txBox="1"/>
          <p:nvPr/>
        </p:nvSpPr>
        <p:spPr>
          <a:xfrm>
            <a:off x="5029200" y="1554480"/>
            <a:ext cx="3291840" cy="457200"/>
          </a:xfrm>
          <a:prstGeom prst="rect">
            <a:avLst/>
          </a:prstGeom>
          <a:noFill/>
          <a:ln/>
        </p:spPr>
        <p:txBody>
          <a:bodyPr wrap="square" lIns="0" tIns="0" rIns="0" bIns="0" rtlCol="0" anchor="ctr"/>
          <a:lstStyle/>
          <a:p>
            <a:pPr indent="0" marL="0">
              <a:buNone/>
            </a:pPr>
            <a:r>
              <a:rPr lang="en-US" sz="2800" b="1" dirty="0">
                <a:solidFill>
                  <a:schemeClr val="bg1"/>
                </a:solidFill>
              </a:rPr>
              <a:t>VALUE</a:t>
            </a:r>
            <a:endParaRPr lang="en-US" sz="2800" dirty="0"/>
          </a:p>
        </p:txBody>
      </p:sp>
      <p:pic>
        <p:nvPicPr>
          <p:cNvPr id="13" name="Value bullet 1" descr="preencoded.png">    </p:cNvPr>
          <p:cNvPicPr>
            <a:picLocks noChangeAspect="1"/>
          </p:cNvPicPr>
          <p:nvPr/>
        </p:nvPicPr>
        <p:blipFill>
          <a:blip r:embed="rId4"/>
          <a:stretch>
            <a:fillRect/>
          </a:stretch>
        </p:blipFill>
        <p:spPr>
          <a:xfrm>
            <a:off x="5029200" y="2249424"/>
            <a:ext cx="274320" cy="274320"/>
          </a:xfrm>
          <a:prstGeom prst="rect">
            <a:avLst/>
          </a:prstGeom>
        </p:spPr>
      </p:pic>
      <p:sp>
        <p:nvSpPr>
          <p:cNvPr id="14" name="Value point 1"/>
          <p:cNvSpPr txBox="1"/>
          <p:nvPr/>
        </p:nvSpPr>
        <p:spPr>
          <a:xfrm>
            <a:off x="5440680" y="2194560"/>
            <a:ext cx="3017520" cy="384048"/>
          </a:xfrm>
          <a:prstGeom prst="rect">
            <a:avLst/>
          </a:prstGeom>
          <a:noFill/>
          <a:ln/>
        </p:spPr>
        <p:txBody>
          <a:bodyPr wrap="square" lIns="0" tIns="0" rIns="0" bIns="0" rtlCol="0" anchor="ctr"/>
          <a:lstStyle/>
          <a:p>
            <a:pPr indent="0" marL="0">
              <a:buNone/>
            </a:pPr>
            <a:r>
              <a:rPr lang="en-US" sz="1800" dirty="0">
                <a:solidFill>
                  <a:schemeClr val="bg1"/>
                </a:solidFill>
              </a:rPr>
              <a:t>Better product, fair price</a:t>
            </a:r>
            <a:endParaRPr lang="en-US" sz="1800" dirty="0"/>
          </a:p>
        </p:txBody>
      </p:sp>
      <p:pic>
        <p:nvPicPr>
          <p:cNvPr id="15" name="Value bullet 2" descr="preencoded.png">    </p:cNvPr>
          <p:cNvPicPr>
            <a:picLocks noChangeAspect="1"/>
          </p:cNvPicPr>
          <p:nvPr/>
        </p:nvPicPr>
        <p:blipFill>
          <a:blip r:embed="rId5"/>
          <a:stretch>
            <a:fillRect/>
          </a:stretch>
        </p:blipFill>
        <p:spPr>
          <a:xfrm>
            <a:off x="5029200" y="2779776"/>
            <a:ext cx="274320" cy="274320"/>
          </a:xfrm>
          <a:prstGeom prst="rect">
            <a:avLst/>
          </a:prstGeom>
        </p:spPr>
      </p:pic>
      <p:sp>
        <p:nvSpPr>
          <p:cNvPr id="16" name="Value point 2"/>
          <p:cNvSpPr txBox="1"/>
          <p:nvPr/>
        </p:nvSpPr>
        <p:spPr>
          <a:xfrm>
            <a:off x="5440680" y="2724912"/>
            <a:ext cx="3017520" cy="384048"/>
          </a:xfrm>
          <a:prstGeom prst="rect">
            <a:avLst/>
          </a:prstGeom>
          <a:noFill/>
          <a:ln/>
        </p:spPr>
        <p:txBody>
          <a:bodyPr wrap="square" lIns="0" tIns="0" rIns="0" bIns="0" rtlCol="0" anchor="ctr"/>
          <a:lstStyle/>
          <a:p>
            <a:pPr indent="0" marL="0">
              <a:buNone/>
            </a:pPr>
            <a:r>
              <a:rPr lang="en-US" sz="1800" dirty="0">
                <a:solidFill>
                  <a:schemeClr val="bg1"/>
                </a:solidFill>
              </a:rPr>
              <a:t>Healthy margin on every sale</a:t>
            </a:r>
            <a:endParaRPr lang="en-US" sz="1800" dirty="0"/>
          </a:p>
        </p:txBody>
      </p:sp>
      <p:pic>
        <p:nvPicPr>
          <p:cNvPr id="17" name="Value bullet 3" descr="preencoded.png">    </p:cNvPr>
          <p:cNvPicPr>
            <a:picLocks noChangeAspect="1"/>
          </p:cNvPicPr>
          <p:nvPr/>
        </p:nvPicPr>
        <p:blipFill>
          <a:blip r:embed="rId6"/>
          <a:stretch>
            <a:fillRect/>
          </a:stretch>
        </p:blipFill>
        <p:spPr>
          <a:xfrm>
            <a:off x="5029200" y="3310128"/>
            <a:ext cx="274320" cy="274320"/>
          </a:xfrm>
          <a:prstGeom prst="rect">
            <a:avLst/>
          </a:prstGeom>
        </p:spPr>
      </p:pic>
      <p:sp>
        <p:nvSpPr>
          <p:cNvPr id="18" name="Value point 3"/>
          <p:cNvSpPr txBox="1"/>
          <p:nvPr/>
        </p:nvSpPr>
        <p:spPr>
          <a:xfrm>
            <a:off x="5440680" y="3255264"/>
            <a:ext cx="3017520" cy="384048"/>
          </a:xfrm>
          <a:prstGeom prst="rect">
            <a:avLst/>
          </a:prstGeom>
          <a:noFill/>
          <a:ln/>
        </p:spPr>
        <p:txBody>
          <a:bodyPr wrap="square" lIns="0" tIns="0" rIns="0" bIns="0" rtlCol="0" anchor="ctr"/>
          <a:lstStyle/>
          <a:p>
            <a:pPr indent="0" marL="0">
              <a:buNone/>
            </a:pPr>
            <a:r>
              <a:rPr lang="en-US" sz="1800" dirty="0">
                <a:solidFill>
                  <a:schemeClr val="bg1"/>
                </a:solidFill>
              </a:rPr>
              <a:t>Customers who come back</a:t>
            </a:r>
            <a:endParaRPr lang="en-US" sz="1800" dirty="0"/>
          </a:p>
        </p:txBody>
      </p:sp>
      <p:sp>
        <p:nvSpPr>
          <p:cNvPr id="19" name="Takeaway"/>
          <p:cNvSpPr txBox="1"/>
          <p:nvPr/>
        </p:nvSpPr>
        <p:spPr>
          <a:xfrm>
            <a:off x="548640" y="4114800"/>
            <a:ext cx="7680960" cy="457200"/>
          </a:xfrm>
          <a:prstGeom prst="rect">
            <a:avLst/>
          </a:prstGeom>
          <a:noFill/>
          <a:ln/>
        </p:spPr>
        <p:txBody>
          <a:bodyPr wrap="square" lIns="0" tIns="0" rIns="0" bIns="0" rtlCol="0" anchor="ctr"/>
          <a:lstStyle/>
          <a:p>
            <a:pPr indent="0" marL="0">
              <a:buNone/>
            </a:pPr>
            <a:r>
              <a:rPr lang="en-US" sz="2200" b="1" dirty="0">
                <a:solidFill>
                  <a:schemeClr val="tx2"/>
                </a:solidFill>
              </a:rPr>
              <a:t>Sell products worth paying for.</a:t>
            </a:r>
            <a:endParaRPr lang="en-US" sz="2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Browsing photo" descr="Customers browsing at our stall under the Let's Pawty banner">    </p:cNvPr>
          <p:cNvPicPr>
            <a:picLocks noChangeAspect="1"/>
          </p:cNvPicPr>
          <p:nvPr/>
        </p:nvPicPr>
        <p:blipFill>
          <a:blip r:embed="rId1"/>
          <a:stretch>
            <a:fillRect/>
          </a:stretch>
        </p:blipFill>
        <p:spPr>
          <a:xfrm>
            <a:off x="548640" y="457200"/>
            <a:ext cx="3291840" cy="4229100"/>
          </a:xfrm>
          <a:prstGeom prst="rect">
            <a:avLst/>
          </a:prstGeom>
        </p:spPr>
      </p:pic>
      <p:sp>
        <p:nvSpPr>
          <p:cNvPr id="3" name="Section number"/>
          <p:cNvSpPr txBox="1"/>
          <p:nvPr/>
        </p:nvSpPr>
        <p:spPr>
          <a:xfrm>
            <a:off x="4480560" y="64008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 name="Section label"/>
          <p:cNvSpPr txBox="1"/>
          <p:nvPr/>
        </p:nvSpPr>
        <p:spPr>
          <a:xfrm>
            <a:off x="5029200" y="640080"/>
            <a:ext cx="3566160" cy="411480"/>
          </a:xfrm>
          <a:prstGeom prst="rect">
            <a:avLst/>
          </a:prstGeom>
          <a:noFill/>
          <a:ln/>
        </p:spPr>
        <p:txBody>
          <a:bodyPr wrap="square" lIns="0" tIns="0" rIns="0" bIns="0" rtlCol="0" anchor="ctr"/>
          <a:lstStyle/>
          <a:p>
            <a:pPr indent="0" marL="0">
              <a:buNone/>
            </a:pPr>
            <a:r>
              <a:rPr lang="en-US" sz="1400" b="1" spc="300" kern="0" dirty="0">
                <a:solidFill>
                  <a:schemeClr val="tx2"/>
                </a:solidFill>
              </a:rPr>
              <a:t>PRICING &amp; PROFIT</a:t>
            </a:r>
            <a:endParaRPr lang="en-US" sz="1400" dirty="0"/>
          </a:p>
        </p:txBody>
      </p:sp>
      <p:sp>
        <p:nvSpPr>
          <p:cNvPr id="5" name="Text 0"/>
          <p:cNvSpPr/>
          <p:nvPr>
            <p:ph idx="100" type="title" hasCustomPrompt="1"/>
          </p:nvPr>
        </p:nvSpPr>
        <p:spPr>
          <a:xfrm>
            <a:off x="4480560" y="1143000"/>
            <a:ext cx="4114800" cy="1371600"/>
          </a:xfrm>
          <a:prstGeom prst="rect">
            <a:avLst/>
          </a:prstGeom>
          <a:noFill/>
          <a:ln/>
        </p:spPr>
        <p:txBody>
          <a:bodyPr wrap="square" lIns="0" tIns="0" rIns="0" bIns="0" rtlCol="0" anchor="t"/>
          <a:lstStyle/>
          <a:p>
            <a:pPr algn="l" indent="0" marL="0">
              <a:buNone/>
            </a:pPr>
            <a:r>
              <a:rPr lang="en-US" sz="3600" b="1" dirty="0">
                <a:solidFill>
                  <a:schemeClr val="tx2"/>
                </a:solidFill>
              </a:rPr>
              <a:t>Never leave value on the table</a:t>
            </a:r>
            <a:endParaRPr lang="en-US" sz="3600" dirty="0"/>
          </a:p>
        </p:txBody>
      </p:sp>
      <p:sp>
        <p:nvSpPr>
          <p:cNvPr id="6" name="Text 0"/>
          <p:cNvSpPr/>
          <p:nvPr>
            <p:ph idx="101" type="body" hasCustomPrompt="1"/>
          </p:nvPr>
        </p:nvSpPr>
        <p:spPr>
          <a:xfrm>
            <a:off x="4480560" y="2651760"/>
            <a:ext cx="4114800" cy="914400"/>
          </a:xfrm>
          <a:prstGeom prst="rect">
            <a:avLst/>
          </a:prstGeom>
          <a:noFill/>
          <a:ln/>
        </p:spPr>
        <p:txBody>
          <a:bodyPr wrap="square" lIns="0" tIns="0" rIns="0" bIns="0" rtlCol="0" anchor="t"/>
          <a:lstStyle/>
          <a:p>
            <a:pPr algn="l" indent="0" marL="0">
              <a:buNone/>
            </a:pPr>
            <a:r>
              <a:rPr lang="en-US" sz="1800" dirty="0">
                <a:solidFill>
                  <a:schemeClr val="tx1"/>
                </a:solidFill>
              </a:rPr>
              <a:t>Judge the customer, then price to match.</a:t>
            </a:r>
            <a:endParaRPr lang="en-US" sz="1800" dirty="0"/>
          </a:p>
        </p:txBody>
      </p:sp>
      <p:sp>
        <p:nvSpPr>
          <p:cNvPr id="7" name="Number 1"/>
          <p:cNvSpPr txBox="1"/>
          <p:nvPr/>
        </p:nvSpPr>
        <p:spPr>
          <a:xfrm>
            <a:off x="4480560" y="342900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Row 1"/>
          <p:cNvSpPr txBox="1"/>
          <p:nvPr/>
        </p:nvSpPr>
        <p:spPr>
          <a:xfrm>
            <a:off x="4983480" y="342900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Know what they will pay for</a:t>
            </a:r>
            <a:endParaRPr lang="en-US" sz="1800" dirty="0"/>
          </a:p>
        </p:txBody>
      </p:sp>
      <p:sp>
        <p:nvSpPr>
          <p:cNvPr id="9" name="Number 2"/>
          <p:cNvSpPr txBox="1"/>
          <p:nvPr/>
        </p:nvSpPr>
        <p:spPr>
          <a:xfrm>
            <a:off x="4480560" y="384048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Row 2"/>
          <p:cNvSpPr txBox="1"/>
          <p:nvPr/>
        </p:nvSpPr>
        <p:spPr>
          <a:xfrm>
            <a:off x="4983480" y="384048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Offer the right option</a:t>
            </a:r>
            <a:endParaRPr lang="en-US" sz="1800" dirty="0"/>
          </a:p>
        </p:txBody>
      </p:sp>
      <p:sp>
        <p:nvSpPr>
          <p:cNvPr id="11" name="Number 3"/>
          <p:cNvSpPr txBox="1"/>
          <p:nvPr/>
        </p:nvSpPr>
        <p:spPr>
          <a:xfrm>
            <a:off x="4480560" y="4251960"/>
            <a:ext cx="347472" cy="347472"/>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Row 3"/>
          <p:cNvSpPr txBox="1"/>
          <p:nvPr/>
        </p:nvSpPr>
        <p:spPr>
          <a:xfrm>
            <a:off x="4983480" y="4251960"/>
            <a:ext cx="3566160" cy="347472"/>
          </a:xfrm>
          <a:prstGeom prst="rect">
            <a:avLst/>
          </a:prstGeom>
          <a:noFill/>
          <a:ln/>
        </p:spPr>
        <p:txBody>
          <a:bodyPr wrap="square" lIns="0" tIns="0" rIns="0" bIns="0" rtlCol="0" anchor="ctr"/>
          <a:lstStyle/>
          <a:p>
            <a:pPr indent="0" marL="0">
              <a:buNone/>
            </a:pPr>
            <a:r>
              <a:rPr lang="en-US" sz="1800" b="1" dirty="0">
                <a:solidFill>
                  <a:schemeClr val="tx1"/>
                </a:solidFill>
              </a:rPr>
              <a:t>Don't discount a ready buyer</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600" b="1" dirty="0">
                <a:solidFill>
                  <a:schemeClr val="tx2"/>
                </a:solidFill>
              </a:rPr>
              <a:t>Key Takeaways</a:t>
            </a:r>
            <a:endParaRPr lang="en-US" sz="3600" dirty="0"/>
          </a:p>
        </p:txBody>
      </p:sp>
      <p:sp>
        <p:nvSpPr>
          <p:cNvPr id="3" name="Takeaway card 1"/>
          <p:cNvSpPr/>
          <p:nvPr/>
        </p:nvSpPr>
        <p:spPr>
          <a:xfrm>
            <a:off x="548640" y="1280160"/>
            <a:ext cx="8046720" cy="731520"/>
          </a:xfrm>
          <a:prstGeom prst="roundRect">
            <a:avLst>
              <a:gd name="adj" fmla="val 18750"/>
            </a:avLst>
          </a:prstGeom>
          <a:solidFill>
            <a:schemeClr val="bg2"/>
          </a:solidFill>
          <a:ln/>
        </p:spPr>
      </p:sp>
      <p:sp>
        <p:nvSpPr>
          <p:cNvPr id="4" name="Takeaway number 1"/>
          <p:cNvSpPr txBox="1"/>
          <p:nvPr/>
        </p:nvSpPr>
        <p:spPr>
          <a:xfrm>
            <a:off x="777240" y="141732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akeaway text 1"/>
          <p:cNvSpPr txBox="1"/>
          <p:nvPr/>
        </p:nvSpPr>
        <p:spPr>
          <a:xfrm>
            <a:off x="1508760" y="1325880"/>
            <a:ext cx="6858000" cy="640080"/>
          </a:xfrm>
          <a:prstGeom prst="rect">
            <a:avLst/>
          </a:prstGeom>
          <a:noFill/>
          <a:ln/>
        </p:spPr>
        <p:txBody>
          <a:bodyPr wrap="square" lIns="0" tIns="0" rIns="0" bIns="0" rtlCol="0" anchor="ctr"/>
          <a:lstStyle/>
          <a:p>
            <a:pPr indent="0" marL="0">
              <a:buNone/>
            </a:pPr>
            <a:r>
              <a:rPr lang="en-US" sz="2000" b="1" dirty="0">
                <a:solidFill>
                  <a:schemeClr val="tx2"/>
                </a:solidFill>
              </a:rPr>
              <a:t>No brand? Push the product</a:t>
            </a:r>
            <a:endParaRPr lang="en-US" sz="2000" dirty="0"/>
          </a:p>
          <a:p>
            <a:pPr indent="0" marL="0">
              <a:buNone/>
            </a:pPr>
            <a:r>
              <a:rPr lang="en-US" sz="1400" dirty="0">
                <a:solidFill>
                  <a:schemeClr val="tx1"/>
                </a:solidFill>
              </a:rPr>
              <a:t>Go to the customer and earn the sale in person.</a:t>
            </a:r>
            <a:endParaRPr lang="en-US" sz="2000" dirty="0"/>
          </a:p>
        </p:txBody>
      </p:sp>
      <p:sp>
        <p:nvSpPr>
          <p:cNvPr id="6" name="Takeaway card 2"/>
          <p:cNvSpPr/>
          <p:nvPr/>
        </p:nvSpPr>
        <p:spPr>
          <a:xfrm>
            <a:off x="548640" y="2148840"/>
            <a:ext cx="8046720" cy="731520"/>
          </a:xfrm>
          <a:prstGeom prst="roundRect">
            <a:avLst>
              <a:gd name="adj" fmla="val 18750"/>
            </a:avLst>
          </a:prstGeom>
          <a:solidFill>
            <a:schemeClr val="bg2"/>
          </a:solidFill>
          <a:ln/>
        </p:spPr>
      </p:sp>
      <p:sp>
        <p:nvSpPr>
          <p:cNvPr id="7" name="Takeaway number 2"/>
          <p:cNvSpPr txBox="1"/>
          <p:nvPr/>
        </p:nvSpPr>
        <p:spPr>
          <a:xfrm>
            <a:off x="777240" y="228600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akeaway text 2"/>
          <p:cNvSpPr txBox="1"/>
          <p:nvPr/>
        </p:nvSpPr>
        <p:spPr>
          <a:xfrm>
            <a:off x="1508760" y="2194560"/>
            <a:ext cx="6858000" cy="640080"/>
          </a:xfrm>
          <a:prstGeom prst="rect">
            <a:avLst/>
          </a:prstGeom>
          <a:noFill/>
          <a:ln/>
        </p:spPr>
        <p:txBody>
          <a:bodyPr wrap="square" lIns="0" tIns="0" rIns="0" bIns="0" rtlCol="0" anchor="ctr"/>
          <a:lstStyle/>
          <a:p>
            <a:pPr indent="0" marL="0">
              <a:buNone/>
            </a:pPr>
            <a:r>
              <a:rPr lang="en-US" sz="2000" b="1" dirty="0">
                <a:solidFill>
                  <a:schemeClr val="tx2"/>
                </a:solidFill>
              </a:rPr>
              <a:t>Know who pays and who uses</a:t>
            </a:r>
            <a:endParaRPr lang="en-US" sz="2000" dirty="0"/>
          </a:p>
          <a:p>
            <a:pPr indent="0" marL="0">
              <a:buNone/>
            </a:pPr>
            <a:r>
              <a:rPr lang="en-US" sz="1400" dirty="0">
                <a:solidFill>
                  <a:schemeClr val="tx1"/>
                </a:solidFill>
              </a:rPr>
              <a:t>Speak to the buyer, design for the user.</a:t>
            </a:r>
            <a:endParaRPr lang="en-US" sz="2000" dirty="0"/>
          </a:p>
        </p:txBody>
      </p:sp>
      <p:sp>
        <p:nvSpPr>
          <p:cNvPr id="9" name="Takeaway card 3"/>
          <p:cNvSpPr/>
          <p:nvPr/>
        </p:nvSpPr>
        <p:spPr>
          <a:xfrm>
            <a:off x="548640" y="3017520"/>
            <a:ext cx="8046720" cy="731520"/>
          </a:xfrm>
          <a:prstGeom prst="roundRect">
            <a:avLst>
              <a:gd name="adj" fmla="val 18750"/>
            </a:avLst>
          </a:prstGeom>
          <a:solidFill>
            <a:schemeClr val="bg2"/>
          </a:solidFill>
          <a:ln/>
        </p:spPr>
      </p:sp>
      <p:sp>
        <p:nvSpPr>
          <p:cNvPr id="10" name="Takeaway number 3"/>
          <p:cNvSpPr txBox="1"/>
          <p:nvPr/>
        </p:nvSpPr>
        <p:spPr>
          <a:xfrm>
            <a:off x="777240" y="315468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akeaway text 3"/>
          <p:cNvSpPr txBox="1"/>
          <p:nvPr/>
        </p:nvSpPr>
        <p:spPr>
          <a:xfrm>
            <a:off x="1508760" y="3063240"/>
            <a:ext cx="6858000" cy="640080"/>
          </a:xfrm>
          <a:prstGeom prst="rect">
            <a:avLst/>
          </a:prstGeom>
          <a:noFill/>
          <a:ln/>
        </p:spPr>
        <p:txBody>
          <a:bodyPr wrap="square" lIns="0" tIns="0" rIns="0" bIns="0" rtlCol="0" anchor="ctr"/>
          <a:lstStyle/>
          <a:p>
            <a:pPr indent="0" marL="0">
              <a:buNone/>
            </a:pPr>
            <a:r>
              <a:rPr lang="en-US" sz="2000" b="1" dirty="0">
                <a:solidFill>
                  <a:schemeClr val="tx2"/>
                </a:solidFill>
              </a:rPr>
              <a:t>Smartly judge the customer</a:t>
            </a:r>
            <a:endParaRPr lang="en-US" sz="2000" dirty="0"/>
          </a:p>
          <a:p>
            <a:pPr indent="0" marL="0">
              <a:buNone/>
            </a:pPr>
            <a:r>
              <a:rPr lang="en-US" sz="1400" dirty="0">
                <a:solidFill>
                  <a:schemeClr val="tx1"/>
                </a:solidFill>
              </a:rPr>
              <a:t>Read them first, then tailor the pitch.</a:t>
            </a:r>
            <a:endParaRPr lang="en-US" sz="2000" dirty="0"/>
          </a:p>
        </p:txBody>
      </p:sp>
      <p:sp>
        <p:nvSpPr>
          <p:cNvPr id="12" name="Takeaway card 4"/>
          <p:cNvSpPr/>
          <p:nvPr/>
        </p:nvSpPr>
        <p:spPr>
          <a:xfrm>
            <a:off x="548640" y="3886200"/>
            <a:ext cx="8046720" cy="731520"/>
          </a:xfrm>
          <a:prstGeom prst="roundRect">
            <a:avLst>
              <a:gd name="adj" fmla="val 18750"/>
            </a:avLst>
          </a:prstGeom>
          <a:solidFill>
            <a:schemeClr val="bg2"/>
          </a:solidFill>
          <a:ln/>
        </p:spPr>
      </p:sp>
      <p:sp>
        <p:nvSpPr>
          <p:cNvPr id="13" name="Takeaway number 4"/>
          <p:cNvSpPr txBox="1"/>
          <p:nvPr/>
        </p:nvSpPr>
        <p:spPr>
          <a:xfrm>
            <a:off x="777240" y="402336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akeaway text 4"/>
          <p:cNvSpPr txBox="1"/>
          <p:nvPr/>
        </p:nvSpPr>
        <p:spPr>
          <a:xfrm>
            <a:off x="1508760" y="3931920"/>
            <a:ext cx="6858000" cy="640080"/>
          </a:xfrm>
          <a:prstGeom prst="rect">
            <a:avLst/>
          </a:prstGeom>
          <a:noFill/>
          <a:ln/>
        </p:spPr>
        <p:txBody>
          <a:bodyPr wrap="square" lIns="0" tIns="0" rIns="0" bIns="0" rtlCol="0" anchor="ctr"/>
          <a:lstStyle/>
          <a:p>
            <a:pPr indent="0" marL="0">
              <a:buNone/>
            </a:pPr>
            <a:r>
              <a:rPr lang="en-US" sz="2000" b="1" dirty="0">
                <a:solidFill>
                  <a:schemeClr val="tx2"/>
                </a:solidFill>
              </a:rPr>
              <a:t>Value over volume</a:t>
            </a:r>
            <a:endParaRPr lang="en-US" sz="2000" dirty="0"/>
          </a:p>
          <a:p>
            <a:pPr indent="0" marL="0">
              <a:buNone/>
            </a:pPr>
            <a:r>
              <a:rPr lang="en-US" sz="1400" dirty="0">
                <a:solidFill>
                  <a:schemeClr val="tx1"/>
                </a:solidFill>
              </a:rPr>
              <a:t>Never leave the value on the table.</a:t>
            </a:r>
            <a:endParaRPr lang="en-US" sz="20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8046720" cy="822960"/>
          </a:xfrm>
          <a:prstGeom prst="rect">
            <a:avLst/>
          </a:prstGeom>
          <a:noFill/>
          <a:ln/>
        </p:spPr>
        <p:txBody>
          <a:bodyPr wrap="square" lIns="0" tIns="0" rIns="0" bIns="0" rtlCol="0" anchor="ctr"/>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1371600"/>
            <a:ext cx="8046720" cy="457200"/>
          </a:xfrm>
          <a:prstGeom prst="rect">
            <a:avLst/>
          </a:prstGeom>
          <a:noFill/>
          <a:ln/>
        </p:spPr>
        <p:txBody>
          <a:bodyPr wrap="square" lIns="0" tIns="0" rIns="0" bIns="0" rtlCol="0" anchor="t"/>
          <a:lstStyle/>
          <a:p>
            <a:pPr algn="l" indent="0" marL="0">
              <a:buNone/>
            </a:pPr>
            <a:r>
              <a:rPr lang="en-US" sz="2000" dirty="0">
                <a:solidFill>
                  <a:schemeClr val="bg2"/>
                </a:solidFill>
              </a:rPr>
              <a:t>Questions and discussion</a:t>
            </a:r>
            <a:endParaRPr lang="en-US" sz="2000" dirty="0"/>
          </a:p>
        </p:txBody>
      </p:sp>
      <p:pic>
        <p:nvPicPr>
          <p:cNvPr id="4" name="Photo 1" descr="Team at the stall">    </p:cNvPr>
          <p:cNvPicPr>
            <a:picLocks noChangeAspect="1"/>
          </p:cNvPicPr>
          <p:nvPr/>
        </p:nvPicPr>
        <p:blipFill>
          <a:blip r:embed="rId1"/>
          <a:stretch>
            <a:fillRect/>
          </a:stretch>
        </p:blipFill>
        <p:spPr>
          <a:xfrm>
            <a:off x="548640" y="2331720"/>
            <a:ext cx="1463040" cy="2194560"/>
          </a:xfrm>
          <a:prstGeom prst="rect">
            <a:avLst/>
          </a:prstGeom>
        </p:spPr>
      </p:pic>
      <p:pic>
        <p:nvPicPr>
          <p:cNvPr id="5" name="Photo 2" descr="Team laughing at the stall">    </p:cNvPr>
          <p:cNvPicPr>
            <a:picLocks noChangeAspect="1"/>
          </p:cNvPicPr>
          <p:nvPr/>
        </p:nvPicPr>
        <p:blipFill>
          <a:blip r:embed="rId2"/>
          <a:stretch>
            <a:fillRect/>
          </a:stretch>
        </p:blipFill>
        <p:spPr>
          <a:xfrm>
            <a:off x="2194560" y="2331720"/>
            <a:ext cx="1463040" cy="2194560"/>
          </a:xfrm>
          <a:prstGeom prst="rect">
            <a:avLst/>
          </a:prstGeom>
        </p:spPr>
      </p:pic>
      <p:pic>
        <p:nvPicPr>
          <p:cNvPr id="6" name="Photo 3" descr="Talking to a customer">    </p:cNvPr>
          <p:cNvPicPr>
            <a:picLocks noChangeAspect="1"/>
          </p:cNvPicPr>
          <p:nvPr/>
        </p:nvPicPr>
        <p:blipFill>
          <a:blip r:embed="rId3"/>
          <a:stretch>
            <a:fillRect/>
          </a:stretch>
        </p:blipFill>
        <p:spPr>
          <a:xfrm>
            <a:off x="3840480" y="2331720"/>
            <a:ext cx="1463040" cy="2194560"/>
          </a:xfrm>
          <a:prstGeom prst="rect">
            <a:avLst/>
          </a:prstGeom>
        </p:spPr>
      </p:pic>
      <p:pic>
        <p:nvPicPr>
          <p:cNvPr id="7" name="Photo 4" descr="Customers paying at the stall">    </p:cNvPr>
          <p:cNvPicPr>
            <a:picLocks noChangeAspect="1"/>
          </p:cNvPicPr>
          <p:nvPr/>
        </p:nvPicPr>
        <p:blipFill>
          <a:blip r:embed="rId4"/>
          <a:stretch>
            <a:fillRect/>
          </a:stretch>
        </p:blipFill>
        <p:spPr>
          <a:xfrm>
            <a:off x="5486400" y="2331720"/>
            <a:ext cx="1463040" cy="2194560"/>
          </a:xfrm>
          <a:prstGeom prst="rect">
            <a:avLst/>
          </a:prstGeom>
        </p:spPr>
      </p:pic>
      <p:pic>
        <p:nvPicPr>
          <p:cNvPr id="8" name="Photo 5" descr="Smiling at the stall table">    </p:cNvPr>
          <p:cNvPicPr>
            <a:picLocks noChangeAspect="1"/>
          </p:cNvPicPr>
          <p:nvPr/>
        </p:nvPicPr>
        <p:blipFill>
          <a:blip r:embed="rId5"/>
          <a:stretch>
            <a:fillRect/>
          </a:stretch>
        </p:blipFill>
        <p:spPr>
          <a:xfrm>
            <a:off x="7132320" y="2331720"/>
            <a:ext cx="1463040" cy="2194560"/>
          </a:xfrm>
          <a:prstGeom prst="rect">
            <a:avLst/>
          </a:prstGeom>
        </p:spPr>
      </p:pic>
    </p:spTree>
  </p:cSld>
  <p:clrMapOvr>
    <a:masterClrMapping/>
  </p:clrMapOvr>
</p:sld>
</file>

<file path=ppt/theme/theme1.xml><?xml version="1.0" encoding="utf-8"?>
<a:theme xmlns:a="http://schemas.openxmlformats.org/drawingml/2006/main" name="D2C Pet Stall">
  <a:themeElements>
    <a:clrScheme name="D2C Pet Stall">
      <a:dk1>
        <a:srgbClr val="1B2A22"/>
      </a:dk1>
      <a:lt1>
        <a:srgbClr val="FFFFFF"/>
      </a:lt1>
      <a:dk2>
        <a:srgbClr val="14532D"/>
      </a:dk2>
      <a:lt2>
        <a:srgbClr val="EAF3EC"/>
      </a:lt2>
      <a:accent1>
        <a:srgbClr val="1F7A4D"/>
      </a:accent1>
      <a:accent2>
        <a:srgbClr val="E5533A"/>
      </a:accent2>
      <a:accent3>
        <a:srgbClr val="F5B82E"/>
      </a:accent3>
      <a:accent4>
        <a:srgbClr val="5BB98C"/>
      </a:accent4>
      <a:accent5>
        <a:srgbClr val="3C8DBC"/>
      </a:accent5>
      <a:accent6>
        <a:srgbClr val="8E6BBF"/>
      </a:accent6>
      <a:hlink>
        <a:srgbClr val="1F7A4D"/>
      </a:hlink>
      <a:folHlink>
        <a:srgbClr val="8E6BBF"/>
      </a:folHlink>
    </a:clrScheme>
    <a:fontScheme name="D2C Pet Stal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D2C Lessons from Our Stall</dc:title>
  <dc:subject>PptxGenJS Presentation</dc:subject>
  <dc:creator>PptxGenJS</dc:creator>
  <cp:lastModifiedBy>PptxGenJS</cp:lastModifiedBy>
  <cp:revision>1</cp:revision>
  <dcterms:created xsi:type="dcterms:W3CDTF">2026-10-22T15:47:10Z</dcterms:created>
  <dcterms:modified xsi:type="dcterms:W3CDTF">2026-10-22T15:47:10Z</dcterms:modified>
</cp:coreProperties>
</file>