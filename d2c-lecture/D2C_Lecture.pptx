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229972c6-2020-abb6-f7f2-ee106ea086b2}">
          <p14:sldIdLst>
            <p14:sldId id="256"/>
            <p14:sldId id="257"/>
            <p14:sldId id="258"/>
          </p14:sldIdLst>
        </p14:section>
        <p14:section name="Lesson 1" id="{efa25ec4-ea5f-d932-035e-ece9860523a6}">
          <p14:sldIdLst>
            <p14:sldId id="259"/>
            <p14:sldId id="260"/>
          </p14:sldIdLst>
        </p14:section>
        <p14:section name="Lesson 2" id="{1d002e9e-9f8b-e761-470e-759aa5b38f8f}">
          <p14:sldIdLst>
            <p14:sldId id="261"/>
            <p14:sldId id="262"/>
          </p14:sldIdLst>
        </p14:section>
        <p14:section name="Lesson 3" id="{573f9f2e-234d-582e-8f3a-f33e5d28a396}">
          <p14:sldIdLst>
            <p14:sldId id="263"/>
            <p14:sldId id="264"/>
          </p14:sldIdLst>
        </p14:section>
        <p14:section name="Wrap-up" id="{f22a37dc-403b-18e2-18c9-ced096ef2e66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Today: a short D2C story from our own stall at D2C Bazaar, and three lessons we took away. About 25-30 minutes, questions welcome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a minute. Ask the room for D2C brands they know. Then: we lived this at a real 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scene: the stall, the products, the crowd. Preview the three lessons, then take them one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Story: nobody knew our name, so no one walked up looking for us. We had to put the product in people's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one is easier? Pull scales, push takes effort but it is how a new brand starts. Pushing also taught us what people actually react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products are for pets, but pets do not walk up to a stall or pay. Someone else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where else is the buyer different from the user? Kids' products, gifts, B2B tools. We have to speak to the buyer and still make something the user loves.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about choosing products people are happy to pay properly for, rather than chasing the biggest number of units.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concrete: one example from the stall where a better-quality product or a combo worked better than a cheap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one sentence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Ideas to prompt: what would you push if you had no brand yet? Who is your buyer versus your user?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48056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_RIGHT_IMG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4297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Y_RIGHT_IMG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68880"/>
            <a:ext cx="4297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_LEFT_IMG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480560" y="1143000"/>
            <a:ext cx="4114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480560" y="2651760"/>
            <a:ext cx="4114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7.xml"/><Relationship Id="rId7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w icon circle"/>
          <p:cNvSpPr/>
          <p:nvPr/>
        </p:nvSpPr>
        <p:spPr>
          <a:xfrm>
            <a:off x="548640" y="64008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Paw icon" descr="Paw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510" y="742950"/>
            <a:ext cx="205740" cy="205740"/>
          </a:xfrm>
          <a:prstGeom prst="rect">
            <a:avLst/>
          </a:prstGeom>
        </p:spPr>
      </p:pic>
      <p:sp>
        <p:nvSpPr>
          <p:cNvPr id="4" name="Label"/>
          <p:cNvSpPr txBox="1"/>
          <p:nvPr/>
        </p:nvSpPr>
        <p:spPr>
          <a:xfrm>
            <a:off x="1097280" y="640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D2C SESSION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23444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D2C Lessons from Our Stall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29718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What selling face to face taught us</a:t>
            </a:r>
            <a:endParaRPr lang="en-US" sz="1800" dirty="0"/>
          </a:p>
        </p:txBody>
      </p:sp>
      <p:pic>
        <p:nvPicPr>
          <p:cNvPr id="7" name="Team photo" descr="Our team at the Let's Pawty st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0"/>
            <a:ext cx="3291840" cy="4229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is D2C?</a:t>
            </a:r>
            <a:endParaRPr lang="en-US" sz="3600" dirty="0"/>
          </a:p>
        </p:txBody>
      </p:sp>
      <p:sp>
        <p:nvSpPr>
          <p:cNvPr id="3" name="Definition"/>
          <p:cNvSpPr txBox="1"/>
          <p:nvPr/>
        </p:nvSpPr>
        <p:spPr>
          <a:xfrm>
            <a:off x="548640" y="1234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Direct-to-Consumer: the brand sells straight to the customer, with no middleman.</a:t>
            </a:r>
            <a:endParaRPr lang="en-US" sz="2000" dirty="0"/>
          </a:p>
        </p:txBody>
      </p:sp>
      <p:sp>
        <p:nvSpPr>
          <p:cNvPr id="4" name="Brand icon circle"/>
          <p:cNvSpPr/>
          <p:nvPr/>
        </p:nvSpPr>
        <p:spPr>
          <a:xfrm>
            <a:off x="1600200" y="2148840"/>
            <a:ext cx="1463040" cy="14630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rand icon" descr="Bran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514600"/>
            <a:ext cx="731520" cy="731520"/>
          </a:xfrm>
          <a:prstGeom prst="rect">
            <a:avLst/>
          </a:prstGeom>
        </p:spPr>
      </p:pic>
      <p:sp>
        <p:nvSpPr>
          <p:cNvPr id="6" name="Customer icon circle"/>
          <p:cNvSpPr/>
          <p:nvPr/>
        </p:nvSpPr>
        <p:spPr>
          <a:xfrm>
            <a:off x="6080760" y="2148840"/>
            <a:ext cx="1463040" cy="14630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Customer icon" descr="Custom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514600"/>
            <a:ext cx="731520" cy="731520"/>
          </a:xfrm>
          <a:prstGeom prst="rect">
            <a:avLst/>
          </a:prstGeom>
        </p:spPr>
      </p:pic>
      <p:sp>
        <p:nvSpPr>
          <p:cNvPr id="8" name="Arrow"/>
          <p:cNvSpPr/>
          <p:nvPr/>
        </p:nvSpPr>
        <p:spPr>
          <a:xfrm>
            <a:off x="3337560" y="2880360"/>
            <a:ext cx="2468880" cy="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Arrow label"/>
          <p:cNvSpPr txBox="1"/>
          <p:nvPr/>
        </p:nvSpPr>
        <p:spPr>
          <a:xfrm>
            <a:off x="3337560" y="2423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No middleman</a:t>
            </a:r>
            <a:endParaRPr lang="en-US" sz="1600" dirty="0"/>
          </a:p>
        </p:txBody>
      </p:sp>
      <p:sp>
        <p:nvSpPr>
          <p:cNvPr id="10" name="Brand label"/>
          <p:cNvSpPr txBox="1"/>
          <p:nvPr/>
        </p:nvSpPr>
        <p:spPr>
          <a:xfrm>
            <a:off x="1325880" y="3749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Brand</a:t>
            </a:r>
            <a:endParaRPr lang="en-US" sz="2400" dirty="0"/>
          </a:p>
        </p:txBody>
      </p:sp>
      <p:sp>
        <p:nvSpPr>
          <p:cNvPr id="11" name="Customer label"/>
          <p:cNvSpPr txBox="1"/>
          <p:nvPr/>
        </p:nvSpPr>
        <p:spPr>
          <a:xfrm>
            <a:off x="5806440" y="3749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Customer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w icon circle"/>
          <p:cNvSpPr/>
          <p:nvPr/>
        </p:nvSpPr>
        <p:spPr>
          <a:xfrm>
            <a:off x="548640" y="64008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Paw icon" descr="Paw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510" y="742950"/>
            <a:ext cx="205740" cy="205740"/>
          </a:xfrm>
          <a:prstGeom prst="rect">
            <a:avLst/>
          </a:prstGeom>
        </p:spPr>
      </p:pic>
      <p:sp>
        <p:nvSpPr>
          <p:cNvPr id="4" name="Label"/>
          <p:cNvSpPr txBox="1"/>
          <p:nvPr/>
        </p:nvSpPr>
        <p:spPr>
          <a:xfrm>
            <a:off x="1097280" y="640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tx2"/>
                </a:solidFill>
              </a:rPr>
              <a:t>D2C BAZAAR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Three Lessons from Our Stall</a:t>
            </a:r>
            <a:endParaRPr lang="en-US" sz="3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24688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Pet clothes, accessories and combos, sold face to face.</a:t>
            </a:r>
            <a:endParaRPr lang="en-US" sz="1800" dirty="0"/>
          </a:p>
        </p:txBody>
      </p:sp>
      <p:sp>
        <p:nvSpPr>
          <p:cNvPr id="7" name="Number 1"/>
          <p:cNvSpPr txBox="1"/>
          <p:nvPr/>
        </p:nvSpPr>
        <p:spPr>
          <a:xfrm>
            <a:off x="548640" y="333756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Lesson 1"/>
          <p:cNvSpPr txBox="1"/>
          <p:nvPr/>
        </p:nvSpPr>
        <p:spPr>
          <a:xfrm>
            <a:off x="1051560" y="3337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brand, so we pushed</a:t>
            </a:r>
            <a:endParaRPr lang="en-US" sz="1800" dirty="0"/>
          </a:p>
        </p:txBody>
      </p:sp>
      <p:sp>
        <p:nvSpPr>
          <p:cNvPr id="9" name="Number 2"/>
          <p:cNvSpPr txBox="1"/>
          <p:nvPr/>
        </p:nvSpPr>
        <p:spPr>
          <a:xfrm>
            <a:off x="548640" y="379476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Lesson 2"/>
          <p:cNvSpPr txBox="1"/>
          <p:nvPr/>
        </p:nvSpPr>
        <p:spPr>
          <a:xfrm>
            <a:off x="1051560" y="37947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Customers are not consumers</a:t>
            </a:r>
            <a:endParaRPr lang="en-US" sz="1800" dirty="0"/>
          </a:p>
        </p:txBody>
      </p:sp>
      <p:sp>
        <p:nvSpPr>
          <p:cNvPr id="11" name="Number 3"/>
          <p:cNvSpPr txBox="1"/>
          <p:nvPr/>
        </p:nvSpPr>
        <p:spPr>
          <a:xfrm>
            <a:off x="548640" y="425196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Lesson 3"/>
          <p:cNvSpPr txBox="1"/>
          <p:nvPr/>
        </p:nvSpPr>
        <p:spPr>
          <a:xfrm>
            <a:off x="1051560" y="42519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Value over volume</a:t>
            </a:r>
            <a:endParaRPr lang="en-US" sz="1800" dirty="0"/>
          </a:p>
        </p:txBody>
      </p:sp>
      <p:pic>
        <p:nvPicPr>
          <p:cNvPr id="13" name="Stall photo" descr="Smiling at our stall table full of pet cloth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0"/>
            <a:ext cx="3291840" cy="42291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 number"/>
          <p:cNvSpPr txBox="1"/>
          <p:nvPr/>
        </p:nvSpPr>
        <p:spPr>
          <a:xfrm>
            <a:off x="548640" y="64008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3" name="Label"/>
          <p:cNvSpPr txBox="1"/>
          <p:nvPr/>
        </p:nvSpPr>
        <p:spPr>
          <a:xfrm>
            <a:off x="1097280" y="640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tx2"/>
                </a:solidFill>
              </a:rPr>
              <a:t>LESSON 1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No brand to pull, so we had to push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651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Nobody came looking for us. We took the product to them.</a:t>
            </a:r>
            <a:endParaRPr lang="en-US" sz="1800" dirty="0"/>
          </a:p>
        </p:txBody>
      </p:sp>
      <p:pic>
        <p:nvPicPr>
          <p:cNvPr id="6" name="Selling photo" descr="Showing a product to shoppers at the st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457200"/>
            <a:ext cx="3291840" cy="42291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Pull vs Push</a:t>
            </a:r>
            <a:endParaRPr lang="en-US" sz="3600" dirty="0"/>
          </a:p>
        </p:txBody>
      </p:sp>
      <p:sp>
        <p:nvSpPr>
          <p:cNvPr id="3" name="Pull card"/>
          <p:cNvSpPr/>
          <p:nvPr/>
        </p:nvSpPr>
        <p:spPr>
          <a:xfrm>
            <a:off x="548640" y="1371600"/>
            <a:ext cx="3840480" cy="24688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4" name="Pull icon circle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Pull icon" descr="Pull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05940"/>
            <a:ext cx="320040" cy="320040"/>
          </a:xfrm>
          <a:prstGeom prst="rect">
            <a:avLst/>
          </a:prstGeom>
        </p:spPr>
      </p:pic>
      <p:sp>
        <p:nvSpPr>
          <p:cNvPr id="6" name="Pull heading"/>
          <p:cNvSpPr txBox="1"/>
          <p:nvPr/>
        </p:nvSpPr>
        <p:spPr>
          <a:xfrm>
            <a:off x="1645920" y="16459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PULL</a:t>
            </a:r>
            <a:endParaRPr lang="en-US" sz="2800" dirty="0"/>
          </a:p>
        </p:txBody>
      </p:sp>
      <p:sp>
        <p:nvSpPr>
          <p:cNvPr id="7" name="Pull text"/>
          <p:cNvSpPr txBox="1"/>
          <p:nvPr/>
        </p:nvSpPr>
        <p:spPr>
          <a:xfrm>
            <a:off x="822960" y="25146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Customers come to you.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 known brand does the selling: ads, reviews, word of mouth.</a:t>
            </a:r>
            <a:endParaRPr lang="en-US" sz="1800" dirty="0"/>
          </a:p>
        </p:txBody>
      </p:sp>
      <p:sp>
        <p:nvSpPr>
          <p:cNvPr id="8" name="Push card"/>
          <p:cNvSpPr/>
          <p:nvPr/>
        </p:nvSpPr>
        <p:spPr>
          <a:xfrm>
            <a:off x="4754880" y="1371600"/>
            <a:ext cx="3840480" cy="2468880"/>
          </a:xfrm>
          <a:prstGeom prst="roundRect">
            <a:avLst>
              <a:gd name="adj" fmla="val 5556"/>
            </a:avLst>
          </a:prstGeom>
          <a:solidFill>
            <a:schemeClr val="tx2"/>
          </a:solidFill>
          <a:ln/>
        </p:spPr>
      </p:sp>
      <p:sp>
        <p:nvSpPr>
          <p:cNvPr id="9" name="Push icon circle"/>
          <p:cNvSpPr/>
          <p:nvPr/>
        </p:nvSpPr>
        <p:spPr>
          <a:xfrm>
            <a:off x="5029200" y="16459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ush icon" descr="Pus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220" y="1805940"/>
            <a:ext cx="320040" cy="320040"/>
          </a:xfrm>
          <a:prstGeom prst="rect">
            <a:avLst/>
          </a:prstGeom>
        </p:spPr>
      </p:pic>
      <p:sp>
        <p:nvSpPr>
          <p:cNvPr id="11" name="Push heading"/>
          <p:cNvSpPr txBox="1"/>
          <p:nvPr/>
        </p:nvSpPr>
        <p:spPr>
          <a:xfrm>
            <a:off x="5852160" y="16459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PUSH</a:t>
            </a:r>
            <a:endParaRPr lang="en-US" sz="2800" dirty="0"/>
          </a:p>
        </p:txBody>
      </p:sp>
      <p:sp>
        <p:nvSpPr>
          <p:cNvPr id="12" name="Push text"/>
          <p:cNvSpPr txBox="1"/>
          <p:nvPr/>
        </p:nvSpPr>
        <p:spPr>
          <a:xfrm>
            <a:off x="5029200" y="25146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 go to the customer.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You do the selling: in person, product in hand.</a:t>
            </a:r>
            <a:endParaRPr lang="en-US" sz="1800" dirty="0"/>
          </a:p>
        </p:txBody>
      </p:sp>
      <p:sp>
        <p:nvSpPr>
          <p:cNvPr id="13" name="Takeaway"/>
          <p:cNvSpPr txBox="1"/>
          <p:nvPr/>
        </p:nvSpPr>
        <p:spPr>
          <a:xfrm>
            <a:off x="54864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Without a brand, push was our only option.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talogue photo" descr="A shopper flipping through our product catalog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3291840" cy="4229100"/>
          </a:xfrm>
          <a:prstGeom prst="rect">
            <a:avLst/>
          </a:prstGeom>
        </p:spPr>
      </p:pic>
      <p:sp>
        <p:nvSpPr>
          <p:cNvPr id="3" name="Lesson number"/>
          <p:cNvSpPr txBox="1"/>
          <p:nvPr/>
        </p:nvSpPr>
        <p:spPr>
          <a:xfrm>
            <a:off x="4480560" y="64008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4" name="Label"/>
          <p:cNvSpPr txBox="1"/>
          <p:nvPr/>
        </p:nvSpPr>
        <p:spPr>
          <a:xfrm>
            <a:off x="5029200" y="640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tx2"/>
                </a:solidFill>
              </a:rPr>
              <a:t>LESSON 2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480560" y="114300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Our customers are not our consumers</a:t>
            </a:r>
            <a:endParaRPr lang="en-US" sz="3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4480560" y="26517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one who pays is not the one who uses.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Who Pays, Who Uses</a:t>
            </a:r>
            <a:endParaRPr lang="en-US" sz="3600" dirty="0"/>
          </a:p>
        </p:txBody>
      </p:sp>
      <p:sp>
        <p:nvSpPr>
          <p:cNvPr id="3" name="Customer card"/>
          <p:cNvSpPr/>
          <p:nvPr/>
        </p:nvSpPr>
        <p:spPr>
          <a:xfrm>
            <a:off x="548640" y="1371600"/>
            <a:ext cx="35661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4" name="Customer icon circle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ustomer icon" descr="Custom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28800"/>
            <a:ext cx="365760" cy="365760"/>
          </a:xfrm>
          <a:prstGeom prst="rect">
            <a:avLst/>
          </a:prstGeom>
        </p:spPr>
      </p:pic>
      <p:sp>
        <p:nvSpPr>
          <p:cNvPr id="6" name="Customer tag"/>
          <p:cNvSpPr txBox="1"/>
          <p:nvPr/>
        </p:nvSpPr>
        <p:spPr>
          <a:xfrm>
            <a:off x="822960" y="2560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OUR CUSTOMER</a:t>
            </a:r>
            <a:endParaRPr lang="en-US" sz="1200" dirty="0"/>
          </a:p>
        </p:txBody>
      </p:sp>
      <p:sp>
        <p:nvSpPr>
          <p:cNvPr id="7" name="Customer name"/>
          <p:cNvSpPr txBox="1"/>
          <p:nvPr/>
        </p:nvSpPr>
        <p:spPr>
          <a:xfrm>
            <a:off x="822960" y="2788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pet parent</a:t>
            </a:r>
            <a:endParaRPr lang="en-US" sz="2400" dirty="0"/>
          </a:p>
        </p:txBody>
      </p:sp>
      <p:sp>
        <p:nvSpPr>
          <p:cNvPr id="8" name="Customer role"/>
          <p:cNvSpPr txBox="1"/>
          <p:nvPr/>
        </p:nvSpPr>
        <p:spPr>
          <a:xfrm>
            <a:off x="82296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Pays and decides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4206240" y="2514600"/>
            <a:ext cx="731520" cy="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0" name="Consumer card"/>
          <p:cNvSpPr/>
          <p:nvPr/>
        </p:nvSpPr>
        <p:spPr>
          <a:xfrm>
            <a:off x="5029200" y="1371600"/>
            <a:ext cx="3566160" cy="22860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/>
        </p:spPr>
      </p:sp>
      <p:sp>
        <p:nvSpPr>
          <p:cNvPr id="11" name="Consumer icon circle"/>
          <p:cNvSpPr/>
          <p:nvPr/>
        </p:nvSpPr>
        <p:spPr>
          <a:xfrm>
            <a:off x="5303520" y="16459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Consumer icon" descr="Consum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28800"/>
            <a:ext cx="365760" cy="365760"/>
          </a:xfrm>
          <a:prstGeom prst="rect">
            <a:avLst/>
          </a:prstGeom>
        </p:spPr>
      </p:pic>
      <p:sp>
        <p:nvSpPr>
          <p:cNvPr id="13" name="Consumer tag"/>
          <p:cNvSpPr txBox="1"/>
          <p:nvPr/>
        </p:nvSpPr>
        <p:spPr>
          <a:xfrm>
            <a:off x="5303520" y="2560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OUR CONSUMER</a:t>
            </a:r>
            <a:endParaRPr lang="en-US" sz="1200" dirty="0"/>
          </a:p>
        </p:txBody>
      </p:sp>
      <p:sp>
        <p:nvSpPr>
          <p:cNvPr id="14" name="Consumer name"/>
          <p:cNvSpPr txBox="1"/>
          <p:nvPr/>
        </p:nvSpPr>
        <p:spPr>
          <a:xfrm>
            <a:off x="5303520" y="2788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The pet</a:t>
            </a:r>
            <a:endParaRPr lang="en-US" sz="2400" dirty="0"/>
          </a:p>
        </p:txBody>
      </p:sp>
      <p:sp>
        <p:nvSpPr>
          <p:cNvPr id="15" name="Consumer role"/>
          <p:cNvSpPr txBox="1"/>
          <p:nvPr/>
        </p:nvSpPr>
        <p:spPr>
          <a:xfrm>
            <a:off x="530352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Wears and uses</a:t>
            </a:r>
            <a:endParaRPr lang="en-US" sz="1600" dirty="0"/>
          </a:p>
        </p:txBody>
      </p:sp>
      <p:sp>
        <p:nvSpPr>
          <p:cNvPr id="16" name="Takeaway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Win the parent. Delight the pet.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 number"/>
          <p:cNvSpPr txBox="1"/>
          <p:nvPr/>
        </p:nvSpPr>
        <p:spPr>
          <a:xfrm>
            <a:off x="548640" y="64008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3" name="Label"/>
          <p:cNvSpPr txBox="1"/>
          <p:nvPr/>
        </p:nvSpPr>
        <p:spPr>
          <a:xfrm>
            <a:off x="1097280" y="640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tx2"/>
                </a:solidFill>
              </a:rPr>
              <a:t>LESSON 3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Value product, not volume product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651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Fewer, better sales beat many cheap ones.</a:t>
            </a:r>
            <a:endParaRPr lang="en-US" sz="1800" dirty="0"/>
          </a:p>
        </p:txBody>
      </p:sp>
      <p:pic>
        <p:nvPicPr>
          <p:cNvPr id="6" name="Checkout photo" descr="Customers paying at our stall by QR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234440"/>
            <a:ext cx="3566160" cy="2651760"/>
          </a:xfrm>
          <a:prstGeom prst="rect">
            <a:avLst/>
          </a:prstGeom>
        </p:spPr>
      </p:pic>
      <p:sp>
        <p:nvSpPr>
          <p:cNvPr id="7" name="Photo caption"/>
          <p:cNvSpPr txBox="1"/>
          <p:nvPr/>
        </p:nvSpPr>
        <p:spPr>
          <a:xfrm>
            <a:off x="5029200" y="4023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Paying at the stall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Value vs Volume</a:t>
            </a:r>
            <a:endParaRPr lang="en-US" sz="3600" dirty="0"/>
          </a:p>
        </p:txBody>
      </p:sp>
      <p:sp>
        <p:nvSpPr>
          <p:cNvPr id="3" name="Volume card"/>
          <p:cNvSpPr/>
          <p:nvPr/>
        </p:nvSpPr>
        <p:spPr>
          <a:xfrm>
            <a:off x="548640" y="1371600"/>
            <a:ext cx="3840480" cy="25146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Volume heading"/>
          <p:cNvSpPr txBox="1"/>
          <p:nvPr/>
        </p:nvSpPr>
        <p:spPr>
          <a:xfrm>
            <a:off x="822960" y="1554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VOLUME</a:t>
            </a:r>
            <a:endParaRPr lang="en-US" sz="2800" dirty="0"/>
          </a:p>
        </p:txBody>
      </p:sp>
      <p:pic>
        <p:nvPicPr>
          <p:cNvPr id="5" name="Volume bullet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9424"/>
            <a:ext cx="274320" cy="274320"/>
          </a:xfrm>
          <a:prstGeom prst="rect">
            <a:avLst/>
          </a:prstGeom>
        </p:spPr>
      </p:pic>
      <p:sp>
        <p:nvSpPr>
          <p:cNvPr id="6" name="Volume point 1"/>
          <p:cNvSpPr txBox="1"/>
          <p:nvPr/>
        </p:nvSpPr>
        <p:spPr>
          <a:xfrm>
            <a:off x="1234440" y="21945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Low price, many units</a:t>
            </a:r>
            <a:endParaRPr lang="en-US" sz="1800" dirty="0"/>
          </a:p>
        </p:txBody>
      </p:sp>
      <p:pic>
        <p:nvPicPr>
          <p:cNvPr id="7" name="Volume bullet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79776"/>
            <a:ext cx="274320" cy="274320"/>
          </a:xfrm>
          <a:prstGeom prst="rect">
            <a:avLst/>
          </a:prstGeom>
        </p:spPr>
      </p:pic>
      <p:sp>
        <p:nvSpPr>
          <p:cNvPr id="8" name="Volume point 2"/>
          <p:cNvSpPr txBox="1"/>
          <p:nvPr/>
        </p:nvSpPr>
        <p:spPr>
          <a:xfrm>
            <a:off x="1234440" y="27249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Thin margin on every sale</a:t>
            </a:r>
            <a:endParaRPr lang="en-US" sz="1800" dirty="0"/>
          </a:p>
        </p:txBody>
      </p:sp>
      <p:pic>
        <p:nvPicPr>
          <p:cNvPr id="9" name="Volume bullet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310128"/>
            <a:ext cx="274320" cy="274320"/>
          </a:xfrm>
          <a:prstGeom prst="rect">
            <a:avLst/>
          </a:prstGeom>
        </p:spPr>
      </p:pic>
      <p:sp>
        <p:nvSpPr>
          <p:cNvPr id="10" name="Volume point 3"/>
          <p:cNvSpPr txBox="1"/>
          <p:nvPr/>
        </p:nvSpPr>
        <p:spPr>
          <a:xfrm>
            <a:off x="1234440" y="32552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Needs big reach to work</a:t>
            </a:r>
            <a:endParaRPr lang="en-US" sz="1800" dirty="0"/>
          </a:p>
        </p:txBody>
      </p:sp>
      <p:sp>
        <p:nvSpPr>
          <p:cNvPr id="11" name="Value card"/>
          <p:cNvSpPr/>
          <p:nvPr/>
        </p:nvSpPr>
        <p:spPr>
          <a:xfrm>
            <a:off x="4754880" y="1371600"/>
            <a:ext cx="3840480" cy="251460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12" name="Value heading"/>
          <p:cNvSpPr txBox="1"/>
          <p:nvPr/>
        </p:nvSpPr>
        <p:spPr>
          <a:xfrm>
            <a:off x="5029200" y="1554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VALUE</a:t>
            </a:r>
            <a:endParaRPr lang="en-US" sz="2800" dirty="0"/>
          </a:p>
        </p:txBody>
      </p:sp>
      <p:pic>
        <p:nvPicPr>
          <p:cNvPr id="13" name="Value bullet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249424"/>
            <a:ext cx="274320" cy="274320"/>
          </a:xfrm>
          <a:prstGeom prst="rect">
            <a:avLst/>
          </a:prstGeom>
        </p:spPr>
      </p:pic>
      <p:sp>
        <p:nvSpPr>
          <p:cNvPr id="14" name="Value point 1"/>
          <p:cNvSpPr txBox="1"/>
          <p:nvPr/>
        </p:nvSpPr>
        <p:spPr>
          <a:xfrm>
            <a:off x="5440680" y="21945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Better product, fair price</a:t>
            </a:r>
            <a:endParaRPr lang="en-US" sz="1800" dirty="0"/>
          </a:p>
        </p:txBody>
      </p:sp>
      <p:pic>
        <p:nvPicPr>
          <p:cNvPr id="15" name="Value bullet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779776"/>
            <a:ext cx="274320" cy="274320"/>
          </a:xfrm>
          <a:prstGeom prst="rect">
            <a:avLst/>
          </a:prstGeom>
        </p:spPr>
      </p:pic>
      <p:sp>
        <p:nvSpPr>
          <p:cNvPr id="16" name="Value point 2"/>
          <p:cNvSpPr txBox="1"/>
          <p:nvPr/>
        </p:nvSpPr>
        <p:spPr>
          <a:xfrm>
            <a:off x="5440680" y="27249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Healthy margin on every sale</a:t>
            </a:r>
            <a:endParaRPr lang="en-US" sz="1800" dirty="0"/>
          </a:p>
        </p:txBody>
      </p:sp>
      <p:pic>
        <p:nvPicPr>
          <p:cNvPr id="17" name="Value bullet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310128"/>
            <a:ext cx="274320" cy="274320"/>
          </a:xfrm>
          <a:prstGeom prst="rect">
            <a:avLst/>
          </a:prstGeom>
        </p:spPr>
      </p:pic>
      <p:sp>
        <p:nvSpPr>
          <p:cNvPr id="18" name="Value point 3"/>
          <p:cNvSpPr txBox="1"/>
          <p:nvPr/>
        </p:nvSpPr>
        <p:spPr>
          <a:xfrm>
            <a:off x="5440680" y="32552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Customers who come back</a:t>
            </a:r>
            <a:endParaRPr lang="en-US" sz="1800" dirty="0"/>
          </a:p>
        </p:txBody>
      </p:sp>
      <p:sp>
        <p:nvSpPr>
          <p:cNvPr id="19" name="Takeaway"/>
          <p:cNvSpPr txBox="1"/>
          <p:nvPr/>
        </p:nvSpPr>
        <p:spPr>
          <a:xfrm>
            <a:off x="54864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Sell products worth paying for.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Key Takeaways</a:t>
            </a:r>
            <a:endParaRPr lang="en-US" sz="3600" dirty="0"/>
          </a:p>
        </p:txBody>
      </p:sp>
      <p:sp>
        <p:nvSpPr>
          <p:cNvPr id="3" name="Takeaway card 1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4" name="Takeaway number 1"/>
          <p:cNvSpPr txBox="1"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akeaway text 1"/>
          <p:cNvSpPr txBox="1"/>
          <p:nvPr/>
        </p:nvSpPr>
        <p:spPr>
          <a:xfrm>
            <a:off x="1508760" y="14630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 brand? Push the product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 to the customer and earn the sale in person.</a:t>
            </a:r>
            <a:endParaRPr lang="en-US" sz="2200" dirty="0"/>
          </a:p>
        </p:txBody>
      </p:sp>
      <p:sp>
        <p:nvSpPr>
          <p:cNvPr id="6" name="Takeaway card 2"/>
          <p:cNvSpPr/>
          <p:nvPr/>
        </p:nvSpPr>
        <p:spPr>
          <a:xfrm>
            <a:off x="548640" y="2468880"/>
            <a:ext cx="8046720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7" name="Takeaway number 2"/>
          <p:cNvSpPr txBox="1"/>
          <p:nvPr/>
        </p:nvSpPr>
        <p:spPr>
          <a:xfrm>
            <a:off x="77724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akeaway text 2"/>
          <p:cNvSpPr txBox="1"/>
          <p:nvPr/>
        </p:nvSpPr>
        <p:spPr>
          <a:xfrm>
            <a:off x="1508760" y="25603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Know who pays and who uses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Speak to the buyer, design for the user.</a:t>
            </a:r>
            <a:endParaRPr lang="en-US" sz="2200" dirty="0"/>
          </a:p>
        </p:txBody>
      </p:sp>
      <p:sp>
        <p:nvSpPr>
          <p:cNvPr id="9" name="Takeaway card 3"/>
          <p:cNvSpPr/>
          <p:nvPr/>
        </p:nvSpPr>
        <p:spPr>
          <a:xfrm>
            <a:off x="548640" y="3566160"/>
            <a:ext cx="8046720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0" name="Takeaway number 3"/>
          <p:cNvSpPr txBox="1"/>
          <p:nvPr/>
        </p:nvSpPr>
        <p:spPr>
          <a:xfrm>
            <a:off x="777240" y="37947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akeaway text 3"/>
          <p:cNvSpPr txBox="1"/>
          <p:nvPr/>
        </p:nvSpPr>
        <p:spPr>
          <a:xfrm>
            <a:off x="1508760" y="36576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Build for value, not volume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Fewer, better sales beat many cheap ones.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Questions and discussion</a:t>
            </a:r>
            <a:endParaRPr lang="en-US" sz="2000" dirty="0"/>
          </a:p>
        </p:txBody>
      </p:sp>
      <p:pic>
        <p:nvPicPr>
          <p:cNvPr id="4" name="Photo 1" descr="Team at the st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1463040" cy="2194560"/>
          </a:xfrm>
          <a:prstGeom prst="rect">
            <a:avLst/>
          </a:prstGeom>
        </p:spPr>
      </p:pic>
      <p:pic>
        <p:nvPicPr>
          <p:cNvPr id="5" name="Photo 2" descr="Smiling at the stall ta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331720"/>
            <a:ext cx="1463040" cy="2194560"/>
          </a:xfrm>
          <a:prstGeom prst="rect">
            <a:avLst/>
          </a:prstGeom>
        </p:spPr>
      </p:pic>
      <p:pic>
        <p:nvPicPr>
          <p:cNvPr id="6" name="Photo 3" descr="Customers paying at the st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2331720"/>
            <a:ext cx="1463040" cy="2194560"/>
          </a:xfrm>
          <a:prstGeom prst="rect">
            <a:avLst/>
          </a:prstGeom>
        </p:spPr>
      </p:pic>
      <p:pic>
        <p:nvPicPr>
          <p:cNvPr id="7" name="Photo 4" descr="Showing a product to shopp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2331720"/>
            <a:ext cx="1463040" cy="2194560"/>
          </a:xfrm>
          <a:prstGeom prst="rect">
            <a:avLst/>
          </a:prstGeom>
        </p:spPr>
      </p:pic>
      <p:pic>
        <p:nvPicPr>
          <p:cNvPr id="8" name="Photo 5" descr="Product catalogu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2331720"/>
            <a:ext cx="1463040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2C Pet Stall">
  <a:themeElements>
    <a:clrScheme name="D2C Pet Stall">
      <a:dk1>
        <a:srgbClr val="1B2A22"/>
      </a:dk1>
      <a:lt1>
        <a:srgbClr val="FFFFFF"/>
      </a:lt1>
      <a:dk2>
        <a:srgbClr val="14532D"/>
      </a:dk2>
      <a:lt2>
        <a:srgbClr val="EAF3EC"/>
      </a:lt2>
      <a:accent1>
        <a:srgbClr val="1F7A4D"/>
      </a:accent1>
      <a:accent2>
        <a:srgbClr val="E5533A"/>
      </a:accent2>
      <a:accent3>
        <a:srgbClr val="F5B82E"/>
      </a:accent3>
      <a:accent4>
        <a:srgbClr val="5BB98C"/>
      </a:accent4>
      <a:accent5>
        <a:srgbClr val="3C8DBC"/>
      </a:accent5>
      <a:accent6>
        <a:srgbClr val="8E6BBF"/>
      </a:accent6>
      <a:hlink>
        <a:srgbClr val="1F7A4D"/>
      </a:hlink>
      <a:folHlink>
        <a:srgbClr val="8E6BBF"/>
      </a:folHlink>
    </a:clrScheme>
    <a:fontScheme name="D2C Pet Stal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D2C Lessons from Our Stall</dc:title>
  <dc:subject>PptxGenJS Presentation</dc:subject>
  <dc:creator>PptxGenJS</dc:creator>
  <cp:lastModifiedBy>PptxGenJS</cp:lastModifiedBy>
  <cp:revision>1</cp:revision>
  <dcterms:created xsi:type="dcterms:W3CDTF">2026-10-22T15:32:10Z</dcterms:created>
  <dcterms:modified xsi:type="dcterms:W3CDTF">2026-10-22T15:32:10Z</dcterms:modified>
</cp:coreProperties>
</file>