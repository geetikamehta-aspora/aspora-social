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676d3134-d193-9442-9dbe-b7bf2bab40a3}">
          <p14:sldIdLst>
            <p14:sldId id="256"/>
            <p14:sldId id="257"/>
            <p14:sldId id="258"/>
          </p14:sldIdLst>
        </p14:section>
        <p14:section name="1 My D2C Journey" id="{4aa4056d-998e-b607-9e2e-e0e9c3e8ba72}">
          <p14:sldIdLst>
            <p14:sldId id="259"/>
            <p14:sldId id="260"/>
            <p14:sldId id="261"/>
          </p14:sldIdLst>
        </p14:section>
        <p14:section name="2 Sales Channels &amp; Growth" id="{ae619194-2c6a-a2dc-4a11-e48f4d5c2868}">
          <p14:sldIdLst>
            <p14:sldId id="262"/>
          </p14:sldIdLst>
        </p14:section>
        <p14:section name="3 Understanding Customers" id="{93d2d399-5f1f-bd72-e41e-c25f08781376}">
          <p14:sldIdLst>
            <p14:sldId id="263"/>
            <p14:sldId id="264"/>
            <p14:sldId id="265"/>
          </p14:sldIdLst>
        </p14:section>
        <p14:section name="4 Pricing &amp; Profitability" id="{127c2e66-2f89-3a1f-0ac7-b95b9a0487b6}">
          <p14:sldIdLst>
            <p14:sldId id="266"/>
            <p14:sldId id="267"/>
            <p14:sldId id="268"/>
          </p14:sldIdLst>
        </p14:section>
        <p14:section name="Wrap-up" id="{b4191da5-33cc-4582-741b-a4624fd99de2}">
          <p14:sldIdLst>
            <p14:sldId id="269"/>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A short D2C story from our own stall at D2C Bazaar, structured around the four parts on the next slide. About 25-30 minutes, questions welcome.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parts, roughly 6-7 minutes each. Everything comes from what we saw and did at the stall.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to a minute. Ask the room for D2C brands they know.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the scene: the stall, the products, the crowd. Preview the three learnings that follow.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Nobody knew our name, so no one walked up looking for us. We had to put the product in people's hands.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Pull scales, push takes effort, but it is how a new brand starts. Pushing also showed us what people actually react 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channel was the stall. The QR on the table points people to Instagram. Add your own channel numbers or examples here and talk about what to add next and what it costs.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products are for pets, but pets do not walk up to a stall or pay. Someone else decides.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Where else is the buyer different from the user? Kids' products, gifts, B2B tools. Speak to the buyer, still make something the user loves.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shopper at the stall was different: a browser, a gifter, a regular pet parent. Reading them quickly decided how we sold. Add a real example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Products people are happy to pay properly for, rather than chasing the biggest number of units.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one concrete example from the stall where a better product or a combo beat a cheap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sale left money behind if we offered the same thing to everyone. Tie back to judging the customer and to combos in the catalogue.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in one sentence each, one per part of the session.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the floor. Prompts: what would you push if you had no brand yet? Who is your buyer versus your user?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234440"/>
            <a:ext cx="4480560" cy="1920240"/>
          </a:xfrm>
          <a:prstGeom prst="rect">
            <a:avLst/>
          </a:prstGeom>
          <a:noFill/>
          <a:ln/>
        </p:spPr>
        <p:txBody>
          <a:bodyPr wrap="square" rtlCol="0"/>
          <a:lstStyle>
            <a:lvl1pPr algn="l" indent="0" marL="0">
              <a:buNone/>
              <a:defRPr lang="en-US" sz="3800" b="1" dirty="0">
                <a:solidFill>
                  <a:schemeClr val="bg1"/>
                </a:solidFill>
              </a:defRPr>
            </a:lvl1pPr>
          </a:lstStyle>
          <a:p>
            <a:pPr algn="l" indent="0" marL="0">
              <a:buNone/>
            </a:pPr>
            <a:endParaRPr lang="en-US" sz="3800" dirty="0"/>
          </a:p>
        </p:txBody>
      </p:sp>
      <p:sp>
        <p:nvSpPr>
          <p:cNvPr id="3" name="Text 0"/>
          <p:cNvSpPr/>
          <p:nvPr>
            <p:ph idx="101" type="body" hasCustomPrompt="1"/>
          </p:nvPr>
        </p:nvSpPr>
        <p:spPr>
          <a:xfrm>
            <a:off x="548640" y="3337560"/>
            <a:ext cx="4206240" cy="914400"/>
          </a:xfrm>
          <a:prstGeom prst="rect">
            <a:avLst/>
          </a:prstGeom>
          <a:noFill/>
          <a:ln/>
        </p:spPr>
        <p:txBody>
          <a:bodyPr wrap="square" rtlCol="0"/>
          <a:lstStyle>
            <a:lvl1pPr algn="l" indent="0" marL="0">
              <a:buNone/>
              <a:defRPr lang="en-US" sz="1800" dirty="0">
                <a:solidFill>
                  <a:schemeClr val="bg2"/>
                </a:solidFill>
              </a:defRPr>
            </a:lvl1pPr>
          </a:lstStyle>
          <a:p>
            <a:pPr algn="l"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_ONLY">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8046720" cy="731520"/>
          </a:xfrm>
          <a:prstGeom prst="rect">
            <a:avLst/>
          </a:prstGeom>
          <a:noFill/>
          <a:ln/>
        </p:spPr>
        <p:txBody>
          <a:bodyPr wrap="square" rtlCol="0"/>
          <a:lstStyle>
            <a:lvl1pPr algn="l" indent="0" marL="0">
              <a:buNone/>
              <a:defRPr lang="en-US" sz="3600" b="1" dirty="0">
                <a:solidFill>
                  <a:schemeClr val="tx2"/>
                </a:solidFill>
              </a:defRPr>
            </a:lvl1pPr>
          </a:lstStyle>
          <a:p>
            <a:pPr algn="l" indent="0" marL="0">
              <a:buNone/>
            </a:pPr>
            <a:endParaRPr lang="en-US" sz="3600" dirty="0"/>
          </a:p>
        </p:txBody>
      </p:sp>
      <p:sp>
        <p:nvSpPr>
          <p:cNvPr id="25" name="Slide Number Placeholder 0"/>
          <p:cNvSpPr>
            <a:spLocks noGrp="1"/>
          </p:cNvSpPr>
          <p:nvPr>
            <p:ph type="sldNum" sz="quarter" idx="4294967295"/>
          </p:nvPr>
        </p:nvSpPr>
        <p:spPr>
          <a:xfrm>
            <a:off x="8229600" y="470916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l"/>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LESSON_RIGHT_IMG">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143000"/>
            <a:ext cx="4480560" cy="1371600"/>
          </a:xfrm>
          <a:prstGeom prst="rect">
            <a:avLst/>
          </a:prstGeom>
          <a:noFill/>
          <a:ln/>
        </p:spPr>
        <p:txBody>
          <a:bodyPr wrap="square" rtlCol="0"/>
          <a:lstStyle>
            <a:lvl1pPr algn="l" indent="0" marL="0">
              <a:buNone/>
              <a:defRPr lang="en-US" sz="3600" b="1" dirty="0">
                <a:solidFill>
                  <a:schemeClr val="tx2"/>
                </a:solidFill>
              </a:defRPr>
            </a:lvl1pPr>
          </a:lstStyle>
          <a:p>
            <a:pPr algn="l" indent="0" marL="0">
              <a:buNone/>
            </a:pPr>
            <a:endParaRPr lang="en-US" sz="3600" dirty="0"/>
          </a:p>
        </p:txBody>
      </p:sp>
      <p:sp>
        <p:nvSpPr>
          <p:cNvPr id="3" name="Text 0"/>
          <p:cNvSpPr/>
          <p:nvPr>
            <p:ph idx="101" type="body" hasCustomPrompt="1"/>
          </p:nvPr>
        </p:nvSpPr>
        <p:spPr>
          <a:xfrm>
            <a:off x="548640" y="2651760"/>
            <a:ext cx="4297680" cy="914400"/>
          </a:xfrm>
          <a:prstGeom prst="rect">
            <a:avLst/>
          </a:prstGeom>
          <a:noFill/>
          <a:ln/>
        </p:spPr>
        <p:txBody>
          <a:bodyPr wrap="square" rtlCol="0"/>
          <a:lstStyle>
            <a:lvl1pPr algn="l" indent="0" marL="0">
              <a:buNone/>
              <a:defRPr lang="en-US" sz="1800" dirty="0">
                <a:solidFill>
                  <a:schemeClr val="tx1"/>
                </a:solidFill>
              </a:defRPr>
            </a:lvl1pPr>
          </a:lstStyle>
          <a:p>
            <a:pPr algn="l" indent="0" marL="0">
              <a:buNone/>
            </a:pPr>
            <a:endParaRPr lang="en-US" sz="1800" dirty="0"/>
          </a:p>
        </p:txBody>
      </p:sp>
      <p:sp>
        <p:nvSpPr>
          <p:cNvPr id="25" name="Slide Number Placeholder 0"/>
          <p:cNvSpPr>
            <a:spLocks noGrp="1"/>
          </p:cNvSpPr>
          <p:nvPr>
            <p:ph type="sldNum" sz="quarter" idx="4294967295"/>
          </p:nvPr>
        </p:nvSpPr>
        <p:spPr>
          <a:xfrm>
            <a:off x="8229600" y="470916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l"/>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AGENDA_RIGHT_IMG">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143000"/>
            <a:ext cx="4480560" cy="685800"/>
          </a:xfrm>
          <a:prstGeom prst="rect">
            <a:avLst/>
          </a:prstGeom>
          <a:noFill/>
          <a:ln/>
        </p:spPr>
        <p:txBody>
          <a:bodyPr wrap="square" rtlCol="0"/>
          <a:lstStyle>
            <a:lvl1pPr algn="l" indent="0" marL="0">
              <a:buNone/>
              <a:defRPr lang="en-US" sz="3600" b="1" dirty="0">
                <a:solidFill>
                  <a:schemeClr val="tx2"/>
                </a:solidFill>
              </a:defRPr>
            </a:lvl1pPr>
          </a:lstStyle>
          <a:p>
            <a:pPr algn="l" indent="0" marL="0">
              <a:buNone/>
            </a:pPr>
            <a:endParaRPr lang="en-US" sz="3600" dirty="0"/>
          </a:p>
        </p:txBody>
      </p:sp>
      <p:sp>
        <p:nvSpPr>
          <p:cNvPr id="25" name="Slide Number Placeholder 0"/>
          <p:cNvSpPr>
            <a:spLocks noGrp="1"/>
          </p:cNvSpPr>
          <p:nvPr>
            <p:ph type="sldNum" sz="quarter" idx="4294967295"/>
          </p:nvPr>
        </p:nvSpPr>
        <p:spPr>
          <a:xfrm>
            <a:off x="8229600" y="470916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l"/>
            <a:fld id="{F7021451-1387-4CA6-816F-3879F97B5CBC}" type="slidenum">
              <a:rPr b="0" lang="en-US"/>
              <a:t>1005</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LESSON_LEFT_IMG">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480560" y="1143000"/>
            <a:ext cx="4114800" cy="1371600"/>
          </a:xfrm>
          <a:prstGeom prst="rect">
            <a:avLst/>
          </a:prstGeom>
          <a:noFill/>
          <a:ln/>
        </p:spPr>
        <p:txBody>
          <a:bodyPr wrap="square" rtlCol="0"/>
          <a:lstStyle>
            <a:lvl1pPr algn="l" indent="0" marL="0">
              <a:buNone/>
              <a:defRPr lang="en-US" sz="3600" b="1" dirty="0">
                <a:solidFill>
                  <a:schemeClr val="tx2"/>
                </a:solidFill>
              </a:defRPr>
            </a:lvl1pPr>
          </a:lstStyle>
          <a:p>
            <a:pPr algn="l" indent="0" marL="0">
              <a:buNone/>
            </a:pPr>
            <a:endParaRPr lang="en-US" sz="3600" dirty="0"/>
          </a:p>
        </p:txBody>
      </p:sp>
      <p:sp>
        <p:nvSpPr>
          <p:cNvPr id="3" name="Text 0"/>
          <p:cNvSpPr/>
          <p:nvPr>
            <p:ph idx="101" type="body" hasCustomPrompt="1"/>
          </p:nvPr>
        </p:nvSpPr>
        <p:spPr>
          <a:xfrm>
            <a:off x="4480560" y="2651760"/>
            <a:ext cx="4114800" cy="914400"/>
          </a:xfrm>
          <a:prstGeom prst="rect">
            <a:avLst/>
          </a:prstGeom>
          <a:noFill/>
          <a:ln/>
        </p:spPr>
        <p:txBody>
          <a:bodyPr wrap="square" rtlCol="0"/>
          <a:lstStyle>
            <a:lvl1pPr algn="l" indent="0" marL="0">
              <a:buNone/>
              <a:defRPr lang="en-US" sz="1800" dirty="0">
                <a:solidFill>
                  <a:schemeClr val="tx1"/>
                </a:solidFill>
              </a:defRPr>
            </a:lvl1pPr>
          </a:lstStyle>
          <a:p>
            <a:pPr algn="l" indent="0" marL="0">
              <a:buNone/>
            </a:pPr>
            <a:endParaRPr lang="en-US" sz="1800" dirty="0"/>
          </a:p>
        </p:txBody>
      </p:sp>
      <p:sp>
        <p:nvSpPr>
          <p:cNvPr id="25" name="Slide Number Placeholder 0"/>
          <p:cNvSpPr>
            <a:spLocks noGrp="1"/>
          </p:cNvSpPr>
          <p:nvPr>
            <p:ph type="sldNum" sz="quarter" idx="4294967295"/>
          </p:nvPr>
        </p:nvSpPr>
        <p:spPr>
          <a:xfrm>
            <a:off x="8229600" y="470916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l"/>
            <a:fld id="{F7021451-1387-4CA6-816F-3879F97B5CBC}" type="slidenum">
              <a:rPr b="0" lang="en-US"/>
              <a:t>1006</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CLOSE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502920"/>
            <a:ext cx="8046720" cy="82296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3" name="Text 0"/>
          <p:cNvSpPr/>
          <p:nvPr>
            <p:ph idx="101" type="body" hasCustomPrompt="1"/>
          </p:nvPr>
        </p:nvSpPr>
        <p:spPr>
          <a:xfrm>
            <a:off x="548640" y="1371600"/>
            <a:ext cx="8046720" cy="457200"/>
          </a:xfrm>
          <a:prstGeom prst="rect">
            <a:avLst/>
          </a:prstGeom>
          <a:noFill/>
          <a:ln/>
        </p:spPr>
        <p:txBody>
          <a:bodyPr wrap="square" rtlCol="0"/>
          <a:lstStyle>
            <a:lvl1pPr algn="l" indent="0" marL="0">
              <a:buNone/>
              <a:defRPr lang="en-US" sz="2000" dirty="0">
                <a:solidFill>
                  <a:schemeClr val="bg2"/>
                </a:solidFill>
              </a:defRPr>
            </a:lvl1pPr>
          </a:lstStyle>
          <a:p>
            <a:pPr algn="l" indent="0" marL="0">
              <a:buNone/>
            </a:pPr>
            <a:endParaRPr lang="en-US" sz="20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0916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5.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3.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6.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4.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3.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6.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4.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3.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6.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4.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slideLayout" Target="../slideLayouts/slideLayout3.xml"/><Relationship Id="rId8"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6.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7.xml"/><Relationship Id="rId3"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Paw icon circle"/>
          <p:cNvSpPr/>
          <p:nvPr/>
        </p:nvSpPr>
        <p:spPr>
          <a:xfrm>
            <a:off x="548640" y="640080"/>
            <a:ext cx="411480" cy="411480"/>
          </a:xfrm>
          <a:prstGeom prst="ellipse">
            <a:avLst/>
          </a:prstGeom>
          <a:solidFill>
            <a:schemeClr val="accent2"/>
          </a:solidFill>
          <a:ln/>
        </p:spPr>
      </p:sp>
      <p:pic>
        <p:nvPicPr>
          <p:cNvPr id="3" name="Paw icon" descr="Paw icon">    </p:cNvPr>
          <p:cNvPicPr>
            <a:picLocks noChangeAspect="1"/>
          </p:cNvPicPr>
          <p:nvPr/>
        </p:nvPicPr>
        <p:blipFill>
          <a:blip r:embed="rId1"/>
          <a:stretch>
            <a:fillRect/>
          </a:stretch>
        </p:blipFill>
        <p:spPr>
          <a:xfrm>
            <a:off x="651510" y="742950"/>
            <a:ext cx="205740" cy="205740"/>
          </a:xfrm>
          <a:prstGeom prst="rect">
            <a:avLst/>
          </a:prstGeom>
        </p:spPr>
      </p:pic>
      <p:sp>
        <p:nvSpPr>
          <p:cNvPr id="4" name="Label"/>
          <p:cNvSpPr txBox="1"/>
          <p:nvPr/>
        </p:nvSpPr>
        <p:spPr>
          <a:xfrm>
            <a:off x="1097280" y="640080"/>
            <a:ext cx="3474720" cy="411480"/>
          </a:xfrm>
          <a:prstGeom prst="rect">
            <a:avLst/>
          </a:prstGeom>
          <a:noFill/>
          <a:ln/>
        </p:spPr>
        <p:txBody>
          <a:bodyPr wrap="square" lIns="0" tIns="0" rIns="0" bIns="0" rtlCol="0" anchor="ctr"/>
          <a:lstStyle/>
          <a:p>
            <a:pPr indent="0" marL="0">
              <a:buNone/>
            </a:pPr>
            <a:r>
              <a:rPr lang="en-US" sz="1400" b="1" spc="300" kern="0" dirty="0">
                <a:solidFill>
                  <a:schemeClr val="accent3"/>
                </a:solidFill>
              </a:rPr>
              <a:t>D2C SESSION</a:t>
            </a:r>
            <a:endParaRPr lang="en-US" sz="1400" dirty="0"/>
          </a:p>
        </p:txBody>
      </p:sp>
      <p:sp>
        <p:nvSpPr>
          <p:cNvPr id="5" name="Text 0"/>
          <p:cNvSpPr/>
          <p:nvPr>
            <p:ph idx="100" type="title" hasCustomPrompt="1"/>
          </p:nvPr>
        </p:nvSpPr>
        <p:spPr>
          <a:xfrm>
            <a:off x="548640" y="1234440"/>
            <a:ext cx="4480560" cy="1920240"/>
          </a:xfrm>
          <a:prstGeom prst="rect">
            <a:avLst/>
          </a:prstGeom>
          <a:noFill/>
          <a:ln/>
        </p:spPr>
        <p:txBody>
          <a:bodyPr wrap="square" lIns="0" tIns="0" rIns="0" bIns="0" rtlCol="0" anchor="t"/>
          <a:lstStyle/>
          <a:p>
            <a:pPr algn="l" indent="0" marL="0">
              <a:buNone/>
            </a:pPr>
            <a:r>
              <a:rPr lang="en-US" sz="3800" b="1" dirty="0">
                <a:solidFill>
                  <a:schemeClr val="bg1"/>
                </a:solidFill>
              </a:rPr>
              <a:t>Building and Scaling a D2C Business</a:t>
            </a:r>
            <a:endParaRPr lang="en-US" sz="3800" dirty="0"/>
          </a:p>
        </p:txBody>
      </p:sp>
      <p:sp>
        <p:nvSpPr>
          <p:cNvPr id="6" name="Text 0"/>
          <p:cNvSpPr/>
          <p:nvPr>
            <p:ph idx="101" type="body" hasCustomPrompt="1"/>
          </p:nvPr>
        </p:nvSpPr>
        <p:spPr>
          <a:xfrm>
            <a:off x="548640" y="3337560"/>
            <a:ext cx="4206240" cy="914400"/>
          </a:xfrm>
          <a:prstGeom prst="rect">
            <a:avLst/>
          </a:prstGeom>
          <a:noFill/>
          <a:ln/>
        </p:spPr>
        <p:txBody>
          <a:bodyPr wrap="square" lIns="0" tIns="0" rIns="0" bIns="0" rtlCol="0" anchor="t"/>
          <a:lstStyle/>
          <a:p>
            <a:pPr algn="l" indent="0" marL="0">
              <a:buNone/>
            </a:pPr>
            <a:r>
              <a:rPr lang="en-US" sz="1800" dirty="0">
                <a:solidFill>
                  <a:schemeClr val="bg2"/>
                </a:solidFill>
              </a:rPr>
              <a:t>Lessons from our own stall at D2C Bazaar</a:t>
            </a:r>
            <a:endParaRPr lang="en-US" sz="1800" dirty="0"/>
          </a:p>
        </p:txBody>
      </p:sp>
      <p:pic>
        <p:nvPicPr>
          <p:cNvPr id="7" name="Team photo" descr="Our team at the Let's Pawty stall">    </p:cNvPr>
          <p:cNvPicPr>
            <a:picLocks noChangeAspect="1"/>
          </p:cNvPicPr>
          <p:nvPr/>
        </p:nvPicPr>
        <p:blipFill>
          <a:blip r:embed="rId2"/>
          <a:stretch>
            <a:fillRect/>
          </a:stretch>
        </p:blipFill>
        <p:spPr>
          <a:xfrm>
            <a:off x="5394960" y="457200"/>
            <a:ext cx="3291840" cy="42291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1143000"/>
            <a:ext cx="4480560" cy="685800"/>
          </a:xfrm>
          <a:prstGeom prst="rect">
            <a:avLst/>
          </a:prstGeom>
          <a:noFill/>
          <a:ln/>
        </p:spPr>
        <p:txBody>
          <a:bodyPr wrap="square" lIns="0" tIns="0" rIns="0" bIns="0" rtlCol="0" anchor="t"/>
          <a:lstStyle/>
          <a:p>
            <a:pPr algn="l" indent="0" marL="0">
              <a:buNone/>
            </a:pPr>
            <a:r>
              <a:rPr lang="en-US" sz="3600" b="1" dirty="0">
                <a:solidFill>
                  <a:schemeClr val="tx2"/>
                </a:solidFill>
              </a:rPr>
              <a:t>Session Overview</a:t>
            </a:r>
            <a:endParaRPr lang="en-US" sz="3600" dirty="0"/>
          </a:p>
        </p:txBody>
      </p:sp>
      <p:sp>
        <p:nvSpPr>
          <p:cNvPr id="3" name="Agenda number 1"/>
          <p:cNvSpPr txBox="1"/>
          <p:nvPr/>
        </p:nvSpPr>
        <p:spPr>
          <a:xfrm>
            <a:off x="548640" y="2057400"/>
            <a:ext cx="411480" cy="411480"/>
          </a:xfrm>
          <a:prstGeom prst="ellipse">
            <a:avLst/>
          </a:prstGeom>
          <a:solidFill>
            <a:schemeClr val="accent2"/>
          </a:solid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4" name="Agenda item 1"/>
          <p:cNvSpPr txBox="1"/>
          <p:nvPr/>
        </p:nvSpPr>
        <p:spPr>
          <a:xfrm>
            <a:off x="1143000" y="2011680"/>
            <a:ext cx="3931920" cy="548640"/>
          </a:xfrm>
          <a:prstGeom prst="rect">
            <a:avLst/>
          </a:prstGeom>
          <a:noFill/>
          <a:ln/>
        </p:spPr>
        <p:txBody>
          <a:bodyPr wrap="square" lIns="0" tIns="0" rIns="0" bIns="0" rtlCol="0" anchor="ctr"/>
          <a:lstStyle/>
          <a:p>
            <a:pPr indent="0" marL="0">
              <a:buNone/>
            </a:pPr>
            <a:r>
              <a:rPr lang="en-US" sz="1800" b="1" dirty="0">
                <a:solidFill>
                  <a:schemeClr val="tx2"/>
                </a:solidFill>
              </a:rPr>
              <a:t>My D2C Journey</a:t>
            </a:r>
            <a:endParaRPr lang="en-US" sz="1800" dirty="0"/>
          </a:p>
          <a:p>
            <a:pPr indent="0" marL="0">
              <a:buNone/>
            </a:pPr>
            <a:r>
              <a:rPr lang="en-US" sz="1400" dirty="0">
                <a:solidFill>
                  <a:schemeClr val="tx1"/>
                </a:solidFill>
              </a:rPr>
              <a:t>Experiences, challenges, learnings, advice for C3</a:t>
            </a:r>
            <a:endParaRPr lang="en-US" sz="1800" dirty="0"/>
          </a:p>
        </p:txBody>
      </p:sp>
      <p:sp>
        <p:nvSpPr>
          <p:cNvPr id="5" name="Agenda number 2"/>
          <p:cNvSpPr txBox="1"/>
          <p:nvPr/>
        </p:nvSpPr>
        <p:spPr>
          <a:xfrm>
            <a:off x="548640" y="2715768"/>
            <a:ext cx="411480" cy="411480"/>
          </a:xfrm>
          <a:prstGeom prst="ellipse">
            <a:avLst/>
          </a:prstGeom>
          <a:solidFill>
            <a:schemeClr val="accent2"/>
          </a:solid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6" name="Agenda item 2"/>
          <p:cNvSpPr txBox="1"/>
          <p:nvPr/>
        </p:nvSpPr>
        <p:spPr>
          <a:xfrm>
            <a:off x="1143000" y="2670048"/>
            <a:ext cx="3931920" cy="548640"/>
          </a:xfrm>
          <a:prstGeom prst="rect">
            <a:avLst/>
          </a:prstGeom>
          <a:noFill/>
          <a:ln/>
        </p:spPr>
        <p:txBody>
          <a:bodyPr wrap="square" lIns="0" tIns="0" rIns="0" bIns="0" rtlCol="0" anchor="ctr"/>
          <a:lstStyle/>
          <a:p>
            <a:pPr indent="0" marL="0">
              <a:buNone/>
            </a:pPr>
            <a:r>
              <a:rPr lang="en-US" sz="1800" b="1" dirty="0">
                <a:solidFill>
                  <a:schemeClr val="tx2"/>
                </a:solidFill>
              </a:rPr>
              <a:t>Sales Channels &amp; Growth</a:t>
            </a:r>
            <a:endParaRPr lang="en-US" sz="1800" dirty="0"/>
          </a:p>
          <a:p>
            <a:pPr indent="0" marL="0">
              <a:buNone/>
            </a:pPr>
            <a:r>
              <a:rPr lang="en-US" sz="1400" dirty="0">
                <a:solidFill>
                  <a:schemeClr val="tx1"/>
                </a:solidFill>
              </a:rPr>
              <a:t>Where to sell, and how to scale profitably</a:t>
            </a:r>
            <a:endParaRPr lang="en-US" sz="1800" dirty="0"/>
          </a:p>
        </p:txBody>
      </p:sp>
      <p:sp>
        <p:nvSpPr>
          <p:cNvPr id="7" name="Agenda number 3"/>
          <p:cNvSpPr txBox="1"/>
          <p:nvPr/>
        </p:nvSpPr>
        <p:spPr>
          <a:xfrm>
            <a:off x="548640" y="3374136"/>
            <a:ext cx="411480" cy="411480"/>
          </a:xfrm>
          <a:prstGeom prst="ellipse">
            <a:avLst/>
          </a:prstGeom>
          <a:solidFill>
            <a:schemeClr val="accent2"/>
          </a:solid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8" name="Agenda item 3"/>
          <p:cNvSpPr txBox="1"/>
          <p:nvPr/>
        </p:nvSpPr>
        <p:spPr>
          <a:xfrm>
            <a:off x="1143000" y="3328416"/>
            <a:ext cx="3931920" cy="548640"/>
          </a:xfrm>
          <a:prstGeom prst="rect">
            <a:avLst/>
          </a:prstGeom>
          <a:noFill/>
          <a:ln/>
        </p:spPr>
        <p:txBody>
          <a:bodyPr wrap="square" lIns="0" tIns="0" rIns="0" bIns="0" rtlCol="0" anchor="ctr"/>
          <a:lstStyle/>
          <a:p>
            <a:pPr indent="0" marL="0">
              <a:buNone/>
            </a:pPr>
            <a:r>
              <a:rPr lang="en-US" sz="1800" b="1" dirty="0">
                <a:solidFill>
                  <a:schemeClr val="tx2"/>
                </a:solidFill>
              </a:rPr>
              <a:t>Understanding Customers</a:t>
            </a:r>
            <a:endParaRPr lang="en-US" sz="1800" dirty="0"/>
          </a:p>
          <a:p>
            <a:pPr indent="0" marL="0">
              <a:buNone/>
            </a:pPr>
            <a:r>
              <a:rPr lang="en-US" sz="1400" dirty="0">
                <a:solidFill>
                  <a:schemeClr val="tx1"/>
                </a:solidFill>
              </a:rPr>
              <a:t>Their needs, finding them, tailoring the pitch</a:t>
            </a:r>
            <a:endParaRPr lang="en-US" sz="1800" dirty="0"/>
          </a:p>
        </p:txBody>
      </p:sp>
      <p:sp>
        <p:nvSpPr>
          <p:cNvPr id="9" name="Agenda number 4"/>
          <p:cNvSpPr txBox="1"/>
          <p:nvPr/>
        </p:nvSpPr>
        <p:spPr>
          <a:xfrm>
            <a:off x="548640" y="4032504"/>
            <a:ext cx="411480" cy="411480"/>
          </a:xfrm>
          <a:prstGeom prst="ellipse">
            <a:avLst/>
          </a:prstGeom>
          <a:solidFill>
            <a:schemeClr val="accent2"/>
          </a:solid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10" name="Agenda item 4"/>
          <p:cNvSpPr txBox="1"/>
          <p:nvPr/>
        </p:nvSpPr>
        <p:spPr>
          <a:xfrm>
            <a:off x="1143000" y="3986784"/>
            <a:ext cx="3931920" cy="548640"/>
          </a:xfrm>
          <a:prstGeom prst="rect">
            <a:avLst/>
          </a:prstGeom>
          <a:noFill/>
          <a:ln/>
        </p:spPr>
        <p:txBody>
          <a:bodyPr wrap="square" lIns="0" tIns="0" rIns="0" bIns="0" rtlCol="0" anchor="ctr"/>
          <a:lstStyle/>
          <a:p>
            <a:pPr indent="0" marL="0">
              <a:buNone/>
            </a:pPr>
            <a:r>
              <a:rPr lang="en-US" sz="1800" b="1" dirty="0">
                <a:solidFill>
                  <a:schemeClr val="tx2"/>
                </a:solidFill>
              </a:rPr>
              <a:t>Pricing &amp; Profitability</a:t>
            </a:r>
            <a:endParaRPr lang="en-US" sz="1800" dirty="0"/>
          </a:p>
          <a:p>
            <a:pPr indent="0" marL="0">
              <a:buNone/>
            </a:pPr>
            <a:r>
              <a:rPr lang="en-US" sz="1400" dirty="0">
                <a:solidFill>
                  <a:schemeClr val="tx1"/>
                </a:solidFill>
              </a:rPr>
              <a:t>Pricing that balances growth and profit</a:t>
            </a:r>
            <a:endParaRPr lang="en-US" sz="1800" dirty="0"/>
          </a:p>
        </p:txBody>
      </p:sp>
      <p:pic>
        <p:nvPicPr>
          <p:cNvPr id="11" name="Bazaar photo" descr="The D2C Bazaar entrance sign">    </p:cNvPr>
          <p:cNvPicPr>
            <a:picLocks noChangeAspect="1"/>
          </p:cNvPicPr>
          <p:nvPr/>
        </p:nvPicPr>
        <p:blipFill>
          <a:blip r:embed="rId1"/>
          <a:stretch>
            <a:fillRect/>
          </a:stretch>
        </p:blipFill>
        <p:spPr>
          <a:xfrm>
            <a:off x="5394960" y="457200"/>
            <a:ext cx="3291840" cy="4229100"/>
          </a:xfrm>
          <a:prstGeom prst="rect">
            <a:avLst/>
          </a:prstGeom>
        </p:spPr>
      </p:pic>
      <p:sp>
        <p:nvSpPr>
          <p:cNvPr id="25" name="Slide Number Placeholder 0"/>
          <p:cNvSpPr>
            <a:spLocks noGrp="1"/>
          </p:cNvSpPr>
          <p:nvPr>
            <p:ph type="sldNum" sz="quarter" idx="4294967295"/>
          </p:nvPr>
        </p:nvSpPr>
        <p:spPr>
          <a:xfrm>
            <a:off x="8229600" y="470916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8046720" cy="731520"/>
          </a:xfrm>
          <a:prstGeom prst="rect">
            <a:avLst/>
          </a:prstGeom>
          <a:noFill/>
          <a:ln/>
        </p:spPr>
        <p:txBody>
          <a:bodyPr wrap="square" lIns="0" tIns="0" rIns="0" bIns="0" rtlCol="0" anchor="ctr"/>
          <a:lstStyle/>
          <a:p>
            <a:pPr algn="l" indent="0" marL="0">
              <a:buNone/>
            </a:pPr>
            <a:r>
              <a:rPr lang="en-US" sz="3600" b="1" dirty="0">
                <a:solidFill>
                  <a:schemeClr val="tx2"/>
                </a:solidFill>
              </a:rPr>
              <a:t>What is D2C?</a:t>
            </a:r>
            <a:endParaRPr lang="en-US" sz="3600" dirty="0"/>
          </a:p>
        </p:txBody>
      </p:sp>
      <p:sp>
        <p:nvSpPr>
          <p:cNvPr id="3" name="Definition"/>
          <p:cNvSpPr txBox="1"/>
          <p:nvPr/>
        </p:nvSpPr>
        <p:spPr>
          <a:xfrm>
            <a:off x="548640" y="1234440"/>
            <a:ext cx="8046720" cy="457200"/>
          </a:xfrm>
          <a:prstGeom prst="rect">
            <a:avLst/>
          </a:prstGeom>
          <a:noFill/>
          <a:ln/>
        </p:spPr>
        <p:txBody>
          <a:bodyPr wrap="square" lIns="0" tIns="0" rIns="0" bIns="0" rtlCol="0" anchor="ctr"/>
          <a:lstStyle/>
          <a:p>
            <a:pPr indent="0" marL="0">
              <a:buNone/>
            </a:pPr>
            <a:r>
              <a:rPr lang="en-US" sz="2000" dirty="0">
                <a:solidFill>
                  <a:schemeClr val="tx1"/>
                </a:solidFill>
              </a:rPr>
              <a:t>Direct-to-Consumer: the brand sells straight to the customer, with no middleman.</a:t>
            </a:r>
            <a:endParaRPr lang="en-US" sz="2000" dirty="0"/>
          </a:p>
        </p:txBody>
      </p:sp>
      <p:sp>
        <p:nvSpPr>
          <p:cNvPr id="4" name="Brand icon circle"/>
          <p:cNvSpPr/>
          <p:nvPr/>
        </p:nvSpPr>
        <p:spPr>
          <a:xfrm>
            <a:off x="1600200" y="2148840"/>
            <a:ext cx="1463040" cy="1463040"/>
          </a:xfrm>
          <a:prstGeom prst="ellipse">
            <a:avLst/>
          </a:prstGeom>
          <a:solidFill>
            <a:schemeClr val="accent1"/>
          </a:solidFill>
          <a:ln/>
        </p:spPr>
      </p:sp>
      <p:pic>
        <p:nvPicPr>
          <p:cNvPr id="5" name="Brand icon" descr="Brand icon">    </p:cNvPr>
          <p:cNvPicPr>
            <a:picLocks noChangeAspect="1"/>
          </p:cNvPicPr>
          <p:nvPr/>
        </p:nvPicPr>
        <p:blipFill>
          <a:blip r:embed="rId1"/>
          <a:stretch>
            <a:fillRect/>
          </a:stretch>
        </p:blipFill>
        <p:spPr>
          <a:xfrm>
            <a:off x="1965960" y="2514600"/>
            <a:ext cx="731520" cy="731520"/>
          </a:xfrm>
          <a:prstGeom prst="rect">
            <a:avLst/>
          </a:prstGeom>
        </p:spPr>
      </p:pic>
      <p:sp>
        <p:nvSpPr>
          <p:cNvPr id="6" name="Customer icon circle"/>
          <p:cNvSpPr/>
          <p:nvPr/>
        </p:nvSpPr>
        <p:spPr>
          <a:xfrm>
            <a:off x="6080760" y="2148840"/>
            <a:ext cx="1463040" cy="1463040"/>
          </a:xfrm>
          <a:prstGeom prst="ellipse">
            <a:avLst/>
          </a:prstGeom>
          <a:solidFill>
            <a:schemeClr val="accent1"/>
          </a:solidFill>
          <a:ln/>
        </p:spPr>
      </p:sp>
      <p:pic>
        <p:nvPicPr>
          <p:cNvPr id="7" name="Customer icon" descr="Customer icon">    </p:cNvPr>
          <p:cNvPicPr>
            <a:picLocks noChangeAspect="1"/>
          </p:cNvPicPr>
          <p:nvPr/>
        </p:nvPicPr>
        <p:blipFill>
          <a:blip r:embed="rId2"/>
          <a:stretch>
            <a:fillRect/>
          </a:stretch>
        </p:blipFill>
        <p:spPr>
          <a:xfrm>
            <a:off x="6446520" y="2514600"/>
            <a:ext cx="731520" cy="731520"/>
          </a:xfrm>
          <a:prstGeom prst="rect">
            <a:avLst/>
          </a:prstGeom>
        </p:spPr>
      </p:pic>
      <p:sp>
        <p:nvSpPr>
          <p:cNvPr id="8" name="Arrow"/>
          <p:cNvSpPr/>
          <p:nvPr/>
        </p:nvSpPr>
        <p:spPr>
          <a:xfrm>
            <a:off x="3337560" y="2880360"/>
            <a:ext cx="2468880" cy="0"/>
          </a:xfrm>
          <a:prstGeom prst="line">
            <a:avLst/>
          </a:prstGeom>
          <a:noFill/>
          <a:ln w="50800">
            <a:solidFill>
              <a:schemeClr val="accent2"/>
            </a:solidFill>
            <a:prstDash val="solid"/>
            <a:tailEnd type="triangle"/>
          </a:ln>
        </p:spPr>
      </p:sp>
      <p:sp>
        <p:nvSpPr>
          <p:cNvPr id="9" name="Arrow label"/>
          <p:cNvSpPr txBox="1"/>
          <p:nvPr/>
        </p:nvSpPr>
        <p:spPr>
          <a:xfrm>
            <a:off x="3337560" y="2423160"/>
            <a:ext cx="2468880" cy="365760"/>
          </a:xfrm>
          <a:prstGeom prst="rect">
            <a:avLst/>
          </a:prstGeom>
          <a:noFill/>
          <a:ln/>
        </p:spPr>
        <p:txBody>
          <a:bodyPr wrap="square" lIns="0" tIns="0" rIns="0" bIns="0" rtlCol="0" anchor="ctr"/>
          <a:lstStyle/>
          <a:p>
            <a:pPr algn="ctr" indent="0" marL="0">
              <a:buNone/>
            </a:pPr>
            <a:r>
              <a:rPr lang="en-US" sz="1600" b="1" dirty="0">
                <a:solidFill>
                  <a:schemeClr val="accent2"/>
                </a:solidFill>
              </a:rPr>
              <a:t>No middleman</a:t>
            </a:r>
            <a:endParaRPr lang="en-US" sz="1600" dirty="0"/>
          </a:p>
        </p:txBody>
      </p:sp>
      <p:sp>
        <p:nvSpPr>
          <p:cNvPr id="10" name="Brand label"/>
          <p:cNvSpPr txBox="1"/>
          <p:nvPr/>
        </p:nvSpPr>
        <p:spPr>
          <a:xfrm>
            <a:off x="1325880" y="3749040"/>
            <a:ext cx="2011680" cy="411480"/>
          </a:xfrm>
          <a:prstGeom prst="rect">
            <a:avLst/>
          </a:prstGeom>
          <a:noFill/>
          <a:ln/>
        </p:spPr>
        <p:txBody>
          <a:bodyPr wrap="square" lIns="0" tIns="0" rIns="0" bIns="0" rtlCol="0" anchor="ctr"/>
          <a:lstStyle/>
          <a:p>
            <a:pPr algn="ctr" indent="0" marL="0">
              <a:buNone/>
            </a:pPr>
            <a:r>
              <a:rPr lang="en-US" sz="2400" b="1" dirty="0">
                <a:solidFill>
                  <a:schemeClr val="tx2"/>
                </a:solidFill>
              </a:rPr>
              <a:t>Brand</a:t>
            </a:r>
            <a:endParaRPr lang="en-US" sz="2400" dirty="0"/>
          </a:p>
        </p:txBody>
      </p:sp>
      <p:sp>
        <p:nvSpPr>
          <p:cNvPr id="11" name="Customer label"/>
          <p:cNvSpPr txBox="1"/>
          <p:nvPr/>
        </p:nvSpPr>
        <p:spPr>
          <a:xfrm>
            <a:off x="5806440" y="3749040"/>
            <a:ext cx="2011680" cy="411480"/>
          </a:xfrm>
          <a:prstGeom prst="rect">
            <a:avLst/>
          </a:prstGeom>
          <a:noFill/>
          <a:ln/>
        </p:spPr>
        <p:txBody>
          <a:bodyPr wrap="square" lIns="0" tIns="0" rIns="0" bIns="0" rtlCol="0" anchor="ctr"/>
          <a:lstStyle/>
          <a:p>
            <a:pPr algn="ctr" indent="0" marL="0">
              <a:buNone/>
            </a:pPr>
            <a:r>
              <a:rPr lang="en-US" sz="2400" b="1" dirty="0">
                <a:solidFill>
                  <a:schemeClr val="tx2"/>
                </a:solidFill>
              </a:rPr>
              <a:t>Customer</a:t>
            </a:r>
            <a:endParaRPr lang="en-US" sz="2400" dirty="0"/>
          </a:p>
        </p:txBody>
      </p:sp>
      <p:sp>
        <p:nvSpPr>
          <p:cNvPr id="25" name="Slide Number Placeholder 0"/>
          <p:cNvSpPr>
            <a:spLocks noGrp="1"/>
          </p:cNvSpPr>
          <p:nvPr>
            <p:ph type="sldNum" sz="quarter" idx="4294967295"/>
          </p:nvPr>
        </p:nvSpPr>
        <p:spPr>
          <a:xfrm>
            <a:off x="8229600" y="470916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Stall photo" descr="Smiling at our stall table full of pet clothes">    </p:cNvPr>
          <p:cNvPicPr>
            <a:picLocks noChangeAspect="1"/>
          </p:cNvPicPr>
          <p:nvPr/>
        </p:nvPicPr>
        <p:blipFill>
          <a:blip r:embed="rId1"/>
          <a:stretch>
            <a:fillRect/>
          </a:stretch>
        </p:blipFill>
        <p:spPr>
          <a:xfrm>
            <a:off x="548640" y="457200"/>
            <a:ext cx="3291840" cy="4229100"/>
          </a:xfrm>
          <a:prstGeom prst="rect">
            <a:avLst/>
          </a:prstGeom>
        </p:spPr>
      </p:pic>
      <p:sp>
        <p:nvSpPr>
          <p:cNvPr id="3" name="Section number"/>
          <p:cNvSpPr txBox="1"/>
          <p:nvPr/>
        </p:nvSpPr>
        <p:spPr>
          <a:xfrm>
            <a:off x="4480560" y="640080"/>
            <a:ext cx="411480" cy="411480"/>
          </a:xfrm>
          <a:prstGeom prst="ellipse">
            <a:avLst/>
          </a:prstGeom>
          <a:solidFill>
            <a:schemeClr val="accent2"/>
          </a:solid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4" name="Section label"/>
          <p:cNvSpPr txBox="1"/>
          <p:nvPr/>
        </p:nvSpPr>
        <p:spPr>
          <a:xfrm>
            <a:off x="5029200" y="640080"/>
            <a:ext cx="3566160" cy="411480"/>
          </a:xfrm>
          <a:prstGeom prst="rect">
            <a:avLst/>
          </a:prstGeom>
          <a:noFill/>
          <a:ln/>
        </p:spPr>
        <p:txBody>
          <a:bodyPr wrap="square" lIns="0" tIns="0" rIns="0" bIns="0" rtlCol="0" anchor="ctr"/>
          <a:lstStyle/>
          <a:p>
            <a:pPr indent="0" marL="0">
              <a:buNone/>
            </a:pPr>
            <a:r>
              <a:rPr lang="en-US" sz="1400" b="1" spc="300" kern="0" dirty="0">
                <a:solidFill>
                  <a:schemeClr val="tx2"/>
                </a:solidFill>
              </a:rPr>
              <a:t>MY D2C JOURNEY</a:t>
            </a:r>
            <a:endParaRPr lang="en-US" sz="1400" dirty="0"/>
          </a:p>
        </p:txBody>
      </p:sp>
      <p:sp>
        <p:nvSpPr>
          <p:cNvPr id="5" name="Text 0"/>
          <p:cNvSpPr/>
          <p:nvPr>
            <p:ph idx="100" type="title" hasCustomPrompt="1"/>
          </p:nvPr>
        </p:nvSpPr>
        <p:spPr>
          <a:xfrm>
            <a:off x="4480560" y="1143000"/>
            <a:ext cx="4114800" cy="1371600"/>
          </a:xfrm>
          <a:prstGeom prst="rect">
            <a:avLst/>
          </a:prstGeom>
          <a:noFill/>
          <a:ln/>
        </p:spPr>
        <p:txBody>
          <a:bodyPr wrap="square" lIns="0" tIns="0" rIns="0" bIns="0" rtlCol="0" anchor="t"/>
          <a:lstStyle/>
          <a:p>
            <a:pPr algn="l" indent="0" marL="0">
              <a:buNone/>
            </a:pPr>
            <a:r>
              <a:rPr lang="en-US" sz="3600" b="1" dirty="0">
                <a:solidFill>
                  <a:schemeClr val="tx2"/>
                </a:solidFill>
              </a:rPr>
              <a:t>Our Stall at D2C Bazaar</a:t>
            </a:r>
            <a:endParaRPr lang="en-US" sz="3600" dirty="0"/>
          </a:p>
        </p:txBody>
      </p:sp>
      <p:sp>
        <p:nvSpPr>
          <p:cNvPr id="6" name="Text 0"/>
          <p:cNvSpPr/>
          <p:nvPr>
            <p:ph idx="101" type="body" hasCustomPrompt="1"/>
          </p:nvPr>
        </p:nvSpPr>
        <p:spPr>
          <a:xfrm>
            <a:off x="4480560" y="2651760"/>
            <a:ext cx="4114800" cy="914400"/>
          </a:xfrm>
          <a:prstGeom prst="rect">
            <a:avLst/>
          </a:prstGeom>
          <a:noFill/>
          <a:ln/>
        </p:spPr>
        <p:txBody>
          <a:bodyPr wrap="square" lIns="0" tIns="0" rIns="0" bIns="0" rtlCol="0" anchor="t"/>
          <a:lstStyle/>
          <a:p>
            <a:pPr algn="l" indent="0" marL="0">
              <a:buNone/>
            </a:pPr>
            <a:r>
              <a:rPr lang="en-US" sz="1800" dirty="0">
                <a:solidFill>
                  <a:schemeClr val="tx1"/>
                </a:solidFill>
              </a:rPr>
              <a:t>Pet clothes, accessories and combos, sold face to face.</a:t>
            </a:r>
            <a:endParaRPr lang="en-US" sz="1800" dirty="0"/>
          </a:p>
        </p:txBody>
      </p:sp>
      <p:sp>
        <p:nvSpPr>
          <p:cNvPr id="7" name="Number 1"/>
          <p:cNvSpPr txBox="1"/>
          <p:nvPr/>
        </p:nvSpPr>
        <p:spPr>
          <a:xfrm>
            <a:off x="4480560" y="3429000"/>
            <a:ext cx="347472" cy="347472"/>
          </a:xfrm>
          <a:prstGeom prst="ellipse">
            <a:avLst/>
          </a:prstGeom>
          <a:solidFill>
            <a:schemeClr val="accent2"/>
          </a:solid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8" name="Row 1"/>
          <p:cNvSpPr txBox="1"/>
          <p:nvPr/>
        </p:nvSpPr>
        <p:spPr>
          <a:xfrm>
            <a:off x="4983480" y="3429000"/>
            <a:ext cx="3566160" cy="347472"/>
          </a:xfrm>
          <a:prstGeom prst="rect">
            <a:avLst/>
          </a:prstGeom>
          <a:noFill/>
          <a:ln/>
        </p:spPr>
        <p:txBody>
          <a:bodyPr wrap="square" lIns="0" tIns="0" rIns="0" bIns="0" rtlCol="0" anchor="ctr"/>
          <a:lstStyle/>
          <a:p>
            <a:pPr indent="0" marL="0">
              <a:buNone/>
            </a:pPr>
            <a:r>
              <a:rPr lang="en-US" sz="1800" b="1" dirty="0">
                <a:solidFill>
                  <a:schemeClr val="tx1"/>
                </a:solidFill>
              </a:rPr>
              <a:t>No brand, so we pushed</a:t>
            </a:r>
            <a:endParaRPr lang="en-US" sz="1800" dirty="0"/>
          </a:p>
        </p:txBody>
      </p:sp>
      <p:sp>
        <p:nvSpPr>
          <p:cNvPr id="9" name="Number 2"/>
          <p:cNvSpPr txBox="1"/>
          <p:nvPr/>
        </p:nvSpPr>
        <p:spPr>
          <a:xfrm>
            <a:off x="4480560" y="3840480"/>
            <a:ext cx="347472" cy="347472"/>
          </a:xfrm>
          <a:prstGeom prst="ellipse">
            <a:avLst/>
          </a:prstGeom>
          <a:solidFill>
            <a:schemeClr val="accent2"/>
          </a:solid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0" name="Row 2"/>
          <p:cNvSpPr txBox="1"/>
          <p:nvPr/>
        </p:nvSpPr>
        <p:spPr>
          <a:xfrm>
            <a:off x="4983480" y="3840480"/>
            <a:ext cx="3566160" cy="347472"/>
          </a:xfrm>
          <a:prstGeom prst="rect">
            <a:avLst/>
          </a:prstGeom>
          <a:noFill/>
          <a:ln/>
        </p:spPr>
        <p:txBody>
          <a:bodyPr wrap="square" lIns="0" tIns="0" rIns="0" bIns="0" rtlCol="0" anchor="ctr"/>
          <a:lstStyle/>
          <a:p>
            <a:pPr indent="0" marL="0">
              <a:buNone/>
            </a:pPr>
            <a:r>
              <a:rPr lang="en-US" sz="1800" b="1" dirty="0">
                <a:solidFill>
                  <a:schemeClr val="tx1"/>
                </a:solidFill>
              </a:rPr>
              <a:t>Customers are not consumers</a:t>
            </a:r>
            <a:endParaRPr lang="en-US" sz="1800" dirty="0"/>
          </a:p>
        </p:txBody>
      </p:sp>
      <p:sp>
        <p:nvSpPr>
          <p:cNvPr id="11" name="Number 3"/>
          <p:cNvSpPr txBox="1"/>
          <p:nvPr/>
        </p:nvSpPr>
        <p:spPr>
          <a:xfrm>
            <a:off x="4480560" y="4251960"/>
            <a:ext cx="347472" cy="347472"/>
          </a:xfrm>
          <a:prstGeom prst="ellipse">
            <a:avLst/>
          </a:prstGeom>
          <a:solidFill>
            <a:schemeClr val="accent2"/>
          </a:solid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2" name="Row 3"/>
          <p:cNvSpPr txBox="1"/>
          <p:nvPr/>
        </p:nvSpPr>
        <p:spPr>
          <a:xfrm>
            <a:off x="4983480" y="4251960"/>
            <a:ext cx="3566160" cy="347472"/>
          </a:xfrm>
          <a:prstGeom prst="rect">
            <a:avLst/>
          </a:prstGeom>
          <a:noFill/>
          <a:ln/>
        </p:spPr>
        <p:txBody>
          <a:bodyPr wrap="square" lIns="0" tIns="0" rIns="0" bIns="0" rtlCol="0" anchor="ctr"/>
          <a:lstStyle/>
          <a:p>
            <a:pPr indent="0" marL="0">
              <a:buNone/>
            </a:pPr>
            <a:r>
              <a:rPr lang="en-US" sz="1800" b="1" dirty="0">
                <a:solidFill>
                  <a:schemeClr val="tx1"/>
                </a:solidFill>
              </a:rPr>
              <a:t>Never leave value on the table</a:t>
            </a:r>
            <a:endParaRPr lang="en-US" sz="1800" dirty="0"/>
          </a:p>
        </p:txBody>
      </p:sp>
      <p:sp>
        <p:nvSpPr>
          <p:cNvPr id="25" name="Slide Number Placeholder 0"/>
          <p:cNvSpPr>
            <a:spLocks noGrp="1"/>
          </p:cNvSpPr>
          <p:nvPr>
            <p:ph type="sldNum" sz="quarter" idx="4294967295"/>
          </p:nvPr>
        </p:nvSpPr>
        <p:spPr>
          <a:xfrm>
            <a:off x="8229600" y="470916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ection number"/>
          <p:cNvSpPr txBox="1"/>
          <p:nvPr/>
        </p:nvSpPr>
        <p:spPr>
          <a:xfrm>
            <a:off x="548640" y="640080"/>
            <a:ext cx="411480" cy="411480"/>
          </a:xfrm>
          <a:prstGeom prst="ellipse">
            <a:avLst/>
          </a:prstGeom>
          <a:solidFill>
            <a:schemeClr val="accent2"/>
          </a:solid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3" name="Section label"/>
          <p:cNvSpPr txBox="1"/>
          <p:nvPr/>
        </p:nvSpPr>
        <p:spPr>
          <a:xfrm>
            <a:off x="1097280" y="640080"/>
            <a:ext cx="3566160" cy="411480"/>
          </a:xfrm>
          <a:prstGeom prst="rect">
            <a:avLst/>
          </a:prstGeom>
          <a:noFill/>
          <a:ln/>
        </p:spPr>
        <p:txBody>
          <a:bodyPr wrap="square" lIns="0" tIns="0" rIns="0" bIns="0" rtlCol="0" anchor="ctr"/>
          <a:lstStyle/>
          <a:p>
            <a:pPr indent="0" marL="0">
              <a:buNone/>
            </a:pPr>
            <a:r>
              <a:rPr lang="en-US" sz="1400" b="1" spc="300" kern="0" dirty="0">
                <a:solidFill>
                  <a:schemeClr val="tx2"/>
                </a:solidFill>
              </a:rPr>
              <a:t>MY D2C JOURNEY</a:t>
            </a:r>
            <a:endParaRPr lang="en-US" sz="1400" dirty="0"/>
          </a:p>
        </p:txBody>
      </p:sp>
      <p:sp>
        <p:nvSpPr>
          <p:cNvPr id="4" name="Text 0"/>
          <p:cNvSpPr/>
          <p:nvPr>
            <p:ph idx="100" type="title" hasCustomPrompt="1"/>
          </p:nvPr>
        </p:nvSpPr>
        <p:spPr>
          <a:xfrm>
            <a:off x="548640" y="1143000"/>
            <a:ext cx="4480560" cy="1371600"/>
          </a:xfrm>
          <a:prstGeom prst="rect">
            <a:avLst/>
          </a:prstGeom>
          <a:noFill/>
          <a:ln/>
        </p:spPr>
        <p:txBody>
          <a:bodyPr wrap="square" lIns="0" tIns="0" rIns="0" bIns="0" rtlCol="0" anchor="t"/>
          <a:lstStyle/>
          <a:p>
            <a:pPr algn="l" indent="0" marL="0">
              <a:buNone/>
            </a:pPr>
            <a:r>
              <a:rPr lang="en-US" sz="3600" b="1" dirty="0">
                <a:solidFill>
                  <a:schemeClr val="tx2"/>
                </a:solidFill>
              </a:rPr>
              <a:t>No brand to pull, so we had to push</a:t>
            </a:r>
            <a:endParaRPr lang="en-US" sz="3600" dirty="0"/>
          </a:p>
        </p:txBody>
      </p:sp>
      <p:sp>
        <p:nvSpPr>
          <p:cNvPr id="5" name="Text 0"/>
          <p:cNvSpPr/>
          <p:nvPr>
            <p:ph idx="101" type="body" hasCustomPrompt="1"/>
          </p:nvPr>
        </p:nvSpPr>
        <p:spPr>
          <a:xfrm>
            <a:off x="548640" y="2651760"/>
            <a:ext cx="4297680" cy="914400"/>
          </a:xfrm>
          <a:prstGeom prst="rect">
            <a:avLst/>
          </a:prstGeom>
          <a:noFill/>
          <a:ln/>
        </p:spPr>
        <p:txBody>
          <a:bodyPr wrap="square" lIns="0" tIns="0" rIns="0" bIns="0" rtlCol="0" anchor="t"/>
          <a:lstStyle/>
          <a:p>
            <a:pPr algn="l" indent="0" marL="0">
              <a:buNone/>
            </a:pPr>
            <a:r>
              <a:rPr lang="en-US" sz="1800" dirty="0">
                <a:solidFill>
                  <a:schemeClr val="tx1"/>
                </a:solidFill>
              </a:rPr>
              <a:t>Nobody came looking for us. We took the product to them.</a:t>
            </a:r>
            <a:endParaRPr lang="en-US" sz="1800" dirty="0"/>
          </a:p>
        </p:txBody>
      </p:sp>
      <p:pic>
        <p:nvPicPr>
          <p:cNvPr id="6" name="Selling photo" descr="Handing a product to customers at the stall">    </p:cNvPr>
          <p:cNvPicPr>
            <a:picLocks noChangeAspect="1"/>
          </p:cNvPicPr>
          <p:nvPr/>
        </p:nvPicPr>
        <p:blipFill>
          <a:blip r:embed="rId1"/>
          <a:stretch>
            <a:fillRect/>
          </a:stretch>
        </p:blipFill>
        <p:spPr>
          <a:xfrm>
            <a:off x="5394960" y="457200"/>
            <a:ext cx="3291840" cy="4229100"/>
          </a:xfrm>
          <a:prstGeom prst="rect">
            <a:avLst/>
          </a:prstGeom>
        </p:spPr>
      </p:pic>
      <p:sp>
        <p:nvSpPr>
          <p:cNvPr id="25" name="Slide Number Placeholder 0"/>
          <p:cNvSpPr>
            <a:spLocks noGrp="1"/>
          </p:cNvSpPr>
          <p:nvPr>
            <p:ph type="sldNum" sz="quarter" idx="4294967295"/>
          </p:nvPr>
        </p:nvSpPr>
        <p:spPr>
          <a:xfrm>
            <a:off x="8229600" y="470916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8046720" cy="731520"/>
          </a:xfrm>
          <a:prstGeom prst="rect">
            <a:avLst/>
          </a:prstGeom>
          <a:noFill/>
          <a:ln/>
        </p:spPr>
        <p:txBody>
          <a:bodyPr wrap="square" lIns="0" tIns="0" rIns="0" bIns="0" rtlCol="0" anchor="ctr"/>
          <a:lstStyle/>
          <a:p>
            <a:pPr algn="l" indent="0" marL="0">
              <a:buNone/>
            </a:pPr>
            <a:r>
              <a:rPr lang="en-US" sz="3600" b="1" dirty="0">
                <a:solidFill>
                  <a:schemeClr val="tx2"/>
                </a:solidFill>
              </a:rPr>
              <a:t>Pull vs Push</a:t>
            </a:r>
            <a:endParaRPr lang="en-US" sz="3600" dirty="0"/>
          </a:p>
        </p:txBody>
      </p:sp>
      <p:sp>
        <p:nvSpPr>
          <p:cNvPr id="3" name="Pull card"/>
          <p:cNvSpPr/>
          <p:nvPr/>
        </p:nvSpPr>
        <p:spPr>
          <a:xfrm>
            <a:off x="548640" y="1371600"/>
            <a:ext cx="3840480" cy="2468880"/>
          </a:xfrm>
          <a:prstGeom prst="roundRect">
            <a:avLst>
              <a:gd name="adj" fmla="val 5556"/>
            </a:avLst>
          </a:prstGeom>
          <a:solidFill>
            <a:schemeClr val="bg2"/>
          </a:solidFill>
          <a:ln/>
        </p:spPr>
      </p:sp>
      <p:sp>
        <p:nvSpPr>
          <p:cNvPr id="4" name="Pull icon circle"/>
          <p:cNvSpPr/>
          <p:nvPr/>
        </p:nvSpPr>
        <p:spPr>
          <a:xfrm>
            <a:off x="822960" y="1645920"/>
            <a:ext cx="640080" cy="640080"/>
          </a:xfrm>
          <a:prstGeom prst="ellipse">
            <a:avLst/>
          </a:prstGeom>
          <a:solidFill>
            <a:schemeClr val="accent3"/>
          </a:solidFill>
          <a:ln/>
        </p:spPr>
      </p:sp>
      <p:pic>
        <p:nvPicPr>
          <p:cNvPr id="5" name="Pull icon" descr="Pull icon">    </p:cNvPr>
          <p:cNvPicPr>
            <a:picLocks noChangeAspect="1"/>
          </p:cNvPicPr>
          <p:nvPr/>
        </p:nvPicPr>
        <p:blipFill>
          <a:blip r:embed="rId1"/>
          <a:stretch>
            <a:fillRect/>
          </a:stretch>
        </p:blipFill>
        <p:spPr>
          <a:xfrm>
            <a:off x="982980" y="1805940"/>
            <a:ext cx="320040" cy="320040"/>
          </a:xfrm>
          <a:prstGeom prst="rect">
            <a:avLst/>
          </a:prstGeom>
        </p:spPr>
      </p:pic>
      <p:sp>
        <p:nvSpPr>
          <p:cNvPr id="6" name="Pull heading"/>
          <p:cNvSpPr txBox="1"/>
          <p:nvPr/>
        </p:nvSpPr>
        <p:spPr>
          <a:xfrm>
            <a:off x="1645920" y="1645920"/>
            <a:ext cx="2560320" cy="640080"/>
          </a:xfrm>
          <a:prstGeom prst="rect">
            <a:avLst/>
          </a:prstGeom>
          <a:noFill/>
          <a:ln/>
        </p:spPr>
        <p:txBody>
          <a:bodyPr wrap="square" lIns="0" tIns="0" rIns="0" bIns="0" rtlCol="0" anchor="ctr"/>
          <a:lstStyle/>
          <a:p>
            <a:pPr indent="0" marL="0">
              <a:buNone/>
            </a:pPr>
            <a:r>
              <a:rPr lang="en-US" sz="2800" b="1" dirty="0">
                <a:solidFill>
                  <a:schemeClr val="tx2"/>
                </a:solidFill>
              </a:rPr>
              <a:t>PULL</a:t>
            </a:r>
            <a:endParaRPr lang="en-US" sz="2800" dirty="0"/>
          </a:p>
        </p:txBody>
      </p:sp>
      <p:sp>
        <p:nvSpPr>
          <p:cNvPr id="7" name="Pull text"/>
          <p:cNvSpPr txBox="1"/>
          <p:nvPr/>
        </p:nvSpPr>
        <p:spPr>
          <a:xfrm>
            <a:off x="822960" y="2514600"/>
            <a:ext cx="3291840" cy="1097280"/>
          </a:xfrm>
          <a:prstGeom prst="rect">
            <a:avLst/>
          </a:prstGeom>
          <a:noFill/>
          <a:ln/>
        </p:spPr>
        <p:txBody>
          <a:bodyPr wrap="square" lIns="0" tIns="0" rIns="0" bIns="0" rtlCol="0" anchor="t"/>
          <a:lstStyle/>
          <a:p>
            <a:pPr indent="0" marL="0">
              <a:spcAft>
                <a:spcPts val="600"/>
              </a:spcAft>
              <a:buNone/>
            </a:pPr>
            <a:r>
              <a:rPr lang="en-US" sz="1800" b="1" dirty="0">
                <a:solidFill>
                  <a:schemeClr val="tx1"/>
                </a:solidFill>
              </a:rPr>
              <a:t>Customers come to you.</a:t>
            </a:r>
            <a:endParaRPr lang="en-US" sz="1800" dirty="0"/>
          </a:p>
          <a:p>
            <a:pPr indent="0" marL="0">
              <a:spcAft>
                <a:spcPts val="600"/>
              </a:spcAft>
              <a:buNone/>
            </a:pPr>
            <a:r>
              <a:rPr lang="en-US" sz="1800" dirty="0">
                <a:solidFill>
                  <a:schemeClr val="tx1"/>
                </a:solidFill>
              </a:rPr>
              <a:t>A known brand does the selling: ads, reviews, word of mouth.</a:t>
            </a:r>
            <a:endParaRPr lang="en-US" sz="1800" dirty="0"/>
          </a:p>
        </p:txBody>
      </p:sp>
      <p:sp>
        <p:nvSpPr>
          <p:cNvPr id="8" name="Push card"/>
          <p:cNvSpPr/>
          <p:nvPr/>
        </p:nvSpPr>
        <p:spPr>
          <a:xfrm>
            <a:off x="4754880" y="1371600"/>
            <a:ext cx="3840480" cy="2468880"/>
          </a:xfrm>
          <a:prstGeom prst="roundRect">
            <a:avLst>
              <a:gd name="adj" fmla="val 5556"/>
            </a:avLst>
          </a:prstGeom>
          <a:solidFill>
            <a:schemeClr val="tx2"/>
          </a:solidFill>
          <a:ln/>
        </p:spPr>
      </p:sp>
      <p:sp>
        <p:nvSpPr>
          <p:cNvPr id="9" name="Push icon circle"/>
          <p:cNvSpPr/>
          <p:nvPr/>
        </p:nvSpPr>
        <p:spPr>
          <a:xfrm>
            <a:off x="5029200" y="1645920"/>
            <a:ext cx="640080" cy="640080"/>
          </a:xfrm>
          <a:prstGeom prst="ellipse">
            <a:avLst/>
          </a:prstGeom>
          <a:solidFill>
            <a:schemeClr val="accent2"/>
          </a:solidFill>
          <a:ln/>
        </p:spPr>
      </p:sp>
      <p:pic>
        <p:nvPicPr>
          <p:cNvPr id="10" name="Push icon" descr="Push icon">    </p:cNvPr>
          <p:cNvPicPr>
            <a:picLocks noChangeAspect="1"/>
          </p:cNvPicPr>
          <p:nvPr/>
        </p:nvPicPr>
        <p:blipFill>
          <a:blip r:embed="rId2"/>
          <a:stretch>
            <a:fillRect/>
          </a:stretch>
        </p:blipFill>
        <p:spPr>
          <a:xfrm>
            <a:off x="5189220" y="1805940"/>
            <a:ext cx="320040" cy="320040"/>
          </a:xfrm>
          <a:prstGeom prst="rect">
            <a:avLst/>
          </a:prstGeom>
        </p:spPr>
      </p:pic>
      <p:sp>
        <p:nvSpPr>
          <p:cNvPr id="11" name="Push heading"/>
          <p:cNvSpPr txBox="1"/>
          <p:nvPr/>
        </p:nvSpPr>
        <p:spPr>
          <a:xfrm>
            <a:off x="5852160" y="1645920"/>
            <a:ext cx="2560320" cy="640080"/>
          </a:xfrm>
          <a:prstGeom prst="rect">
            <a:avLst/>
          </a:prstGeom>
          <a:noFill/>
          <a:ln/>
        </p:spPr>
        <p:txBody>
          <a:bodyPr wrap="square" lIns="0" tIns="0" rIns="0" bIns="0" rtlCol="0" anchor="ctr"/>
          <a:lstStyle/>
          <a:p>
            <a:pPr indent="0" marL="0">
              <a:buNone/>
            </a:pPr>
            <a:r>
              <a:rPr lang="en-US" sz="2800" b="1" dirty="0">
                <a:solidFill>
                  <a:schemeClr val="bg1"/>
                </a:solidFill>
              </a:rPr>
              <a:t>PUSH</a:t>
            </a:r>
            <a:endParaRPr lang="en-US" sz="2800" dirty="0"/>
          </a:p>
        </p:txBody>
      </p:sp>
      <p:sp>
        <p:nvSpPr>
          <p:cNvPr id="12" name="Push text"/>
          <p:cNvSpPr txBox="1"/>
          <p:nvPr/>
        </p:nvSpPr>
        <p:spPr>
          <a:xfrm>
            <a:off x="5029200" y="2514600"/>
            <a:ext cx="3291840" cy="1097280"/>
          </a:xfrm>
          <a:prstGeom prst="rect">
            <a:avLst/>
          </a:prstGeom>
          <a:noFill/>
          <a:ln/>
        </p:spPr>
        <p:txBody>
          <a:bodyPr wrap="square" lIns="0" tIns="0" rIns="0" bIns="0" rtlCol="0" anchor="t"/>
          <a:lstStyle/>
          <a:p>
            <a:pPr indent="0" marL="0">
              <a:spcAft>
                <a:spcPts val="600"/>
              </a:spcAft>
              <a:buNone/>
            </a:pPr>
            <a:r>
              <a:rPr lang="en-US" sz="1800" b="1" dirty="0">
                <a:solidFill>
                  <a:schemeClr val="bg1"/>
                </a:solidFill>
              </a:rPr>
              <a:t>You go to the customer.</a:t>
            </a:r>
            <a:endParaRPr lang="en-US" sz="1800" dirty="0"/>
          </a:p>
          <a:p>
            <a:pPr indent="0" marL="0">
              <a:spcAft>
                <a:spcPts val="600"/>
              </a:spcAft>
              <a:buNone/>
            </a:pPr>
            <a:r>
              <a:rPr lang="en-US" sz="1800" dirty="0">
                <a:solidFill>
                  <a:schemeClr val="bg1"/>
                </a:solidFill>
              </a:rPr>
              <a:t>You do the selling: in person, product in hand.</a:t>
            </a:r>
            <a:endParaRPr lang="en-US" sz="1800" dirty="0"/>
          </a:p>
        </p:txBody>
      </p:sp>
      <p:sp>
        <p:nvSpPr>
          <p:cNvPr id="13" name="Takeaway"/>
          <p:cNvSpPr txBox="1"/>
          <p:nvPr/>
        </p:nvSpPr>
        <p:spPr>
          <a:xfrm>
            <a:off x="548640" y="4114800"/>
            <a:ext cx="7680960" cy="457200"/>
          </a:xfrm>
          <a:prstGeom prst="rect">
            <a:avLst/>
          </a:prstGeom>
          <a:noFill/>
          <a:ln/>
        </p:spPr>
        <p:txBody>
          <a:bodyPr wrap="square" lIns="0" tIns="0" rIns="0" bIns="0" rtlCol="0" anchor="ctr"/>
          <a:lstStyle/>
          <a:p>
            <a:pPr indent="0" marL="0">
              <a:buNone/>
            </a:pPr>
            <a:r>
              <a:rPr lang="en-US" sz="2200" b="1" dirty="0">
                <a:solidFill>
                  <a:schemeClr val="tx2"/>
                </a:solidFill>
              </a:rPr>
              <a:t>Without a brand, push was our only option.</a:t>
            </a:r>
            <a:endParaRPr lang="en-US" sz="2200" dirty="0"/>
          </a:p>
        </p:txBody>
      </p:sp>
      <p:sp>
        <p:nvSpPr>
          <p:cNvPr id="25" name="Slide Number Placeholder 0"/>
          <p:cNvSpPr>
            <a:spLocks noGrp="1"/>
          </p:cNvSpPr>
          <p:nvPr>
            <p:ph type="sldNum" sz="quarter" idx="4294967295"/>
          </p:nvPr>
        </p:nvSpPr>
        <p:spPr>
          <a:xfrm>
            <a:off x="8229600" y="470916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Product photo" descr="A dog t-shirt on our table with the Instagram QR code">    </p:cNvPr>
          <p:cNvPicPr>
            <a:picLocks noChangeAspect="1"/>
          </p:cNvPicPr>
          <p:nvPr/>
        </p:nvPicPr>
        <p:blipFill>
          <a:blip r:embed="rId1"/>
          <a:stretch>
            <a:fillRect/>
          </a:stretch>
        </p:blipFill>
        <p:spPr>
          <a:xfrm>
            <a:off x="548640" y="457200"/>
            <a:ext cx="3291840" cy="4229100"/>
          </a:xfrm>
          <a:prstGeom prst="rect">
            <a:avLst/>
          </a:prstGeom>
        </p:spPr>
      </p:pic>
      <p:sp>
        <p:nvSpPr>
          <p:cNvPr id="3" name="Section number"/>
          <p:cNvSpPr txBox="1"/>
          <p:nvPr/>
        </p:nvSpPr>
        <p:spPr>
          <a:xfrm>
            <a:off x="4480560" y="640080"/>
            <a:ext cx="411480" cy="411480"/>
          </a:xfrm>
          <a:prstGeom prst="ellipse">
            <a:avLst/>
          </a:prstGeom>
          <a:solidFill>
            <a:schemeClr val="accent2"/>
          </a:solid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4" name="Section label"/>
          <p:cNvSpPr txBox="1"/>
          <p:nvPr/>
        </p:nvSpPr>
        <p:spPr>
          <a:xfrm>
            <a:off x="5029200" y="640080"/>
            <a:ext cx="3566160" cy="411480"/>
          </a:xfrm>
          <a:prstGeom prst="rect">
            <a:avLst/>
          </a:prstGeom>
          <a:noFill/>
          <a:ln/>
        </p:spPr>
        <p:txBody>
          <a:bodyPr wrap="square" lIns="0" tIns="0" rIns="0" bIns="0" rtlCol="0" anchor="ctr"/>
          <a:lstStyle/>
          <a:p>
            <a:pPr indent="0" marL="0">
              <a:buNone/>
            </a:pPr>
            <a:r>
              <a:rPr lang="en-US" sz="1400" b="1" spc="300" kern="0" dirty="0">
                <a:solidFill>
                  <a:schemeClr val="tx2"/>
                </a:solidFill>
              </a:rPr>
              <a:t>SALES CHANNELS</a:t>
            </a:r>
            <a:endParaRPr lang="en-US" sz="1400" dirty="0"/>
          </a:p>
        </p:txBody>
      </p:sp>
      <p:sp>
        <p:nvSpPr>
          <p:cNvPr id="5" name="Text 0"/>
          <p:cNvSpPr/>
          <p:nvPr>
            <p:ph idx="100" type="title" hasCustomPrompt="1"/>
          </p:nvPr>
        </p:nvSpPr>
        <p:spPr>
          <a:xfrm>
            <a:off x="4480560" y="1143000"/>
            <a:ext cx="4114800" cy="1371600"/>
          </a:xfrm>
          <a:prstGeom prst="rect">
            <a:avLst/>
          </a:prstGeom>
          <a:noFill/>
          <a:ln/>
        </p:spPr>
        <p:txBody>
          <a:bodyPr wrap="square" lIns="0" tIns="0" rIns="0" bIns="0" rtlCol="0" anchor="t"/>
          <a:lstStyle/>
          <a:p>
            <a:pPr algn="l" indent="0" marL="0">
              <a:buNone/>
            </a:pPr>
            <a:r>
              <a:rPr lang="en-US" sz="3600" b="1" dirty="0">
                <a:solidFill>
                  <a:schemeClr val="tx2"/>
                </a:solidFill>
              </a:rPr>
              <a:t>Sales Channels &amp; Growth</a:t>
            </a:r>
            <a:endParaRPr lang="en-US" sz="3600" dirty="0"/>
          </a:p>
        </p:txBody>
      </p:sp>
      <p:sp>
        <p:nvSpPr>
          <p:cNvPr id="6" name="Text 0"/>
          <p:cNvSpPr/>
          <p:nvPr>
            <p:ph idx="101" type="body" hasCustomPrompt="1"/>
          </p:nvPr>
        </p:nvSpPr>
        <p:spPr>
          <a:xfrm>
            <a:off x="4480560" y="2651760"/>
            <a:ext cx="4114800" cy="914400"/>
          </a:xfrm>
          <a:prstGeom prst="rect">
            <a:avLst/>
          </a:prstGeom>
          <a:noFill/>
          <a:ln/>
        </p:spPr>
        <p:txBody>
          <a:bodyPr wrap="square" lIns="0" tIns="0" rIns="0" bIns="0" rtlCol="0" anchor="t"/>
          <a:lstStyle/>
          <a:p>
            <a:pPr algn="l" indent="0" marL="0">
              <a:buNone/>
            </a:pPr>
            <a:r>
              <a:rPr lang="en-US" sz="1800" dirty="0">
                <a:solidFill>
                  <a:schemeClr val="tx1"/>
                </a:solidFill>
              </a:rPr>
              <a:t>Sell where customers are. Scale what pays.</a:t>
            </a:r>
            <a:endParaRPr lang="en-US" sz="1800" dirty="0"/>
          </a:p>
        </p:txBody>
      </p:sp>
      <p:sp>
        <p:nvSpPr>
          <p:cNvPr id="7" name="Channel icon 1 circle"/>
          <p:cNvSpPr/>
          <p:nvPr/>
        </p:nvSpPr>
        <p:spPr>
          <a:xfrm>
            <a:off x="4480560" y="3383280"/>
            <a:ext cx="502920" cy="502920"/>
          </a:xfrm>
          <a:prstGeom prst="ellipse">
            <a:avLst/>
          </a:prstGeom>
          <a:solidFill>
            <a:schemeClr val="accent1"/>
          </a:solidFill>
          <a:ln/>
        </p:spPr>
      </p:sp>
      <p:pic>
        <p:nvPicPr>
          <p:cNvPr id="8" name="Channel icon 1" descr="Channel icon 1">    </p:cNvPr>
          <p:cNvPicPr>
            <a:picLocks noChangeAspect="1"/>
          </p:cNvPicPr>
          <p:nvPr/>
        </p:nvPicPr>
        <p:blipFill>
          <a:blip r:embed="rId2"/>
          <a:stretch>
            <a:fillRect/>
          </a:stretch>
        </p:blipFill>
        <p:spPr>
          <a:xfrm>
            <a:off x="4606290" y="3509010"/>
            <a:ext cx="251460" cy="251460"/>
          </a:xfrm>
          <a:prstGeom prst="rect">
            <a:avLst/>
          </a:prstGeom>
        </p:spPr>
      </p:pic>
      <p:sp>
        <p:nvSpPr>
          <p:cNvPr id="9" name="Channel 1"/>
          <p:cNvSpPr txBox="1"/>
          <p:nvPr/>
        </p:nvSpPr>
        <p:spPr>
          <a:xfrm>
            <a:off x="5120640" y="3383280"/>
            <a:ext cx="3474720" cy="502920"/>
          </a:xfrm>
          <a:prstGeom prst="rect">
            <a:avLst/>
          </a:prstGeom>
          <a:noFill/>
          <a:ln/>
        </p:spPr>
        <p:txBody>
          <a:bodyPr wrap="square" lIns="0" tIns="0" rIns="0" bIns="0" rtlCol="0" anchor="ctr"/>
          <a:lstStyle/>
          <a:p>
            <a:pPr indent="0" marL="0">
              <a:buNone/>
            </a:pPr>
            <a:r>
              <a:rPr lang="en-US" sz="1800" b="1" dirty="0">
                <a:solidFill>
                  <a:schemeClr val="tx1"/>
                </a:solidFill>
              </a:rPr>
              <a:t>Offline: our stall, face to face</a:t>
            </a:r>
            <a:endParaRPr lang="en-US" sz="1800" dirty="0"/>
          </a:p>
        </p:txBody>
      </p:sp>
      <p:sp>
        <p:nvSpPr>
          <p:cNvPr id="10" name="Channel icon 2 circle"/>
          <p:cNvSpPr/>
          <p:nvPr/>
        </p:nvSpPr>
        <p:spPr>
          <a:xfrm>
            <a:off x="4480560" y="4069080"/>
            <a:ext cx="502920" cy="502920"/>
          </a:xfrm>
          <a:prstGeom prst="ellipse">
            <a:avLst/>
          </a:prstGeom>
          <a:solidFill>
            <a:schemeClr val="accent1"/>
          </a:solidFill>
          <a:ln/>
        </p:spPr>
      </p:sp>
      <p:pic>
        <p:nvPicPr>
          <p:cNvPr id="11" name="Channel icon 2" descr="Channel icon 2">    </p:cNvPr>
          <p:cNvPicPr>
            <a:picLocks noChangeAspect="1"/>
          </p:cNvPicPr>
          <p:nvPr/>
        </p:nvPicPr>
        <p:blipFill>
          <a:blip r:embed="rId3"/>
          <a:stretch>
            <a:fillRect/>
          </a:stretch>
        </p:blipFill>
        <p:spPr>
          <a:xfrm>
            <a:off x="4606290" y="4194810"/>
            <a:ext cx="251460" cy="251460"/>
          </a:xfrm>
          <a:prstGeom prst="rect">
            <a:avLst/>
          </a:prstGeom>
        </p:spPr>
      </p:pic>
      <p:sp>
        <p:nvSpPr>
          <p:cNvPr id="12" name="Channel 2"/>
          <p:cNvSpPr txBox="1"/>
          <p:nvPr/>
        </p:nvSpPr>
        <p:spPr>
          <a:xfrm>
            <a:off x="5120640" y="4069080"/>
            <a:ext cx="3474720" cy="502920"/>
          </a:xfrm>
          <a:prstGeom prst="rect">
            <a:avLst/>
          </a:prstGeom>
          <a:noFill/>
          <a:ln/>
        </p:spPr>
        <p:txBody>
          <a:bodyPr wrap="square" lIns="0" tIns="0" rIns="0" bIns="0" rtlCol="0" anchor="ctr"/>
          <a:lstStyle/>
          <a:p>
            <a:pPr indent="0" marL="0">
              <a:buNone/>
            </a:pPr>
            <a:r>
              <a:rPr lang="en-US" sz="1800" b="1" dirty="0">
                <a:solidFill>
                  <a:schemeClr val="tx1"/>
                </a:solidFill>
              </a:rPr>
              <a:t>Online: Instagram (QR on table)</a:t>
            </a:r>
            <a:endParaRPr lang="en-US" sz="1800" dirty="0"/>
          </a:p>
        </p:txBody>
      </p:sp>
      <p:sp>
        <p:nvSpPr>
          <p:cNvPr id="25" name="Slide Number Placeholder 0"/>
          <p:cNvSpPr>
            <a:spLocks noGrp="1"/>
          </p:cNvSpPr>
          <p:nvPr>
            <p:ph type="sldNum" sz="quarter" idx="4294967295"/>
          </p:nvPr>
        </p:nvSpPr>
        <p:spPr>
          <a:xfrm>
            <a:off x="8229600" y="470916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ection number"/>
          <p:cNvSpPr txBox="1"/>
          <p:nvPr/>
        </p:nvSpPr>
        <p:spPr>
          <a:xfrm>
            <a:off x="548640" y="640080"/>
            <a:ext cx="411480" cy="411480"/>
          </a:xfrm>
          <a:prstGeom prst="ellipse">
            <a:avLst/>
          </a:prstGeom>
          <a:solidFill>
            <a:schemeClr val="accent2"/>
          </a:solid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3" name="Section label"/>
          <p:cNvSpPr txBox="1"/>
          <p:nvPr/>
        </p:nvSpPr>
        <p:spPr>
          <a:xfrm>
            <a:off x="1097280" y="640080"/>
            <a:ext cx="3566160" cy="411480"/>
          </a:xfrm>
          <a:prstGeom prst="rect">
            <a:avLst/>
          </a:prstGeom>
          <a:noFill/>
          <a:ln/>
        </p:spPr>
        <p:txBody>
          <a:bodyPr wrap="square" lIns="0" tIns="0" rIns="0" bIns="0" rtlCol="0" anchor="ctr"/>
          <a:lstStyle/>
          <a:p>
            <a:pPr indent="0" marL="0">
              <a:buNone/>
            </a:pPr>
            <a:r>
              <a:rPr lang="en-US" sz="1400" b="1" spc="300" kern="0" dirty="0">
                <a:solidFill>
                  <a:schemeClr val="tx2"/>
                </a:solidFill>
              </a:rPr>
              <a:t>CUSTOMERS</a:t>
            </a:r>
            <a:endParaRPr lang="en-US" sz="1400" dirty="0"/>
          </a:p>
        </p:txBody>
      </p:sp>
      <p:sp>
        <p:nvSpPr>
          <p:cNvPr id="4" name="Text 0"/>
          <p:cNvSpPr/>
          <p:nvPr>
            <p:ph idx="100" type="title" hasCustomPrompt="1"/>
          </p:nvPr>
        </p:nvSpPr>
        <p:spPr>
          <a:xfrm>
            <a:off x="548640" y="1143000"/>
            <a:ext cx="4480560" cy="1371600"/>
          </a:xfrm>
          <a:prstGeom prst="rect">
            <a:avLst/>
          </a:prstGeom>
          <a:noFill/>
          <a:ln/>
        </p:spPr>
        <p:txBody>
          <a:bodyPr wrap="square" lIns="0" tIns="0" rIns="0" bIns="0" rtlCol="0" anchor="t"/>
          <a:lstStyle/>
          <a:p>
            <a:pPr algn="l" indent="0" marL="0">
              <a:buNone/>
            </a:pPr>
            <a:r>
              <a:rPr lang="en-US" sz="3600" b="1" dirty="0">
                <a:solidFill>
                  <a:schemeClr val="tx2"/>
                </a:solidFill>
              </a:rPr>
              <a:t>Our customers are not our consumers</a:t>
            </a:r>
            <a:endParaRPr lang="en-US" sz="3600" dirty="0"/>
          </a:p>
        </p:txBody>
      </p:sp>
      <p:sp>
        <p:nvSpPr>
          <p:cNvPr id="5" name="Text 0"/>
          <p:cNvSpPr/>
          <p:nvPr>
            <p:ph idx="101" type="body" hasCustomPrompt="1"/>
          </p:nvPr>
        </p:nvSpPr>
        <p:spPr>
          <a:xfrm>
            <a:off x="548640" y="2651760"/>
            <a:ext cx="4297680" cy="914400"/>
          </a:xfrm>
          <a:prstGeom prst="rect">
            <a:avLst/>
          </a:prstGeom>
          <a:noFill/>
          <a:ln/>
        </p:spPr>
        <p:txBody>
          <a:bodyPr wrap="square" lIns="0" tIns="0" rIns="0" bIns="0" rtlCol="0" anchor="t"/>
          <a:lstStyle/>
          <a:p>
            <a:pPr algn="l" indent="0" marL="0">
              <a:buNone/>
            </a:pPr>
            <a:r>
              <a:rPr lang="en-US" sz="1800" dirty="0">
                <a:solidFill>
                  <a:schemeClr val="tx1"/>
                </a:solidFill>
              </a:rPr>
              <a:t>The one who pays is not the one who uses.</a:t>
            </a:r>
            <a:endParaRPr lang="en-US" sz="1800" dirty="0"/>
          </a:p>
        </p:txBody>
      </p:sp>
      <p:pic>
        <p:nvPicPr>
          <p:cNvPr id="6" name="Catalogue photo" descr="A shopper flipping through our product catalogue">    </p:cNvPr>
          <p:cNvPicPr>
            <a:picLocks noChangeAspect="1"/>
          </p:cNvPicPr>
          <p:nvPr/>
        </p:nvPicPr>
        <p:blipFill>
          <a:blip r:embed="rId1"/>
          <a:stretch>
            <a:fillRect/>
          </a:stretch>
        </p:blipFill>
        <p:spPr>
          <a:xfrm>
            <a:off x="5394960" y="457200"/>
            <a:ext cx="3291840" cy="4229100"/>
          </a:xfrm>
          <a:prstGeom prst="rect">
            <a:avLst/>
          </a:prstGeom>
        </p:spPr>
      </p:pic>
      <p:sp>
        <p:nvSpPr>
          <p:cNvPr id="25" name="Slide Number Placeholder 0"/>
          <p:cNvSpPr>
            <a:spLocks noGrp="1"/>
          </p:cNvSpPr>
          <p:nvPr>
            <p:ph type="sldNum" sz="quarter" idx="4294967295"/>
          </p:nvPr>
        </p:nvSpPr>
        <p:spPr>
          <a:xfrm>
            <a:off x="8229600" y="470916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8046720" cy="731520"/>
          </a:xfrm>
          <a:prstGeom prst="rect">
            <a:avLst/>
          </a:prstGeom>
          <a:noFill/>
          <a:ln/>
        </p:spPr>
        <p:txBody>
          <a:bodyPr wrap="square" lIns="0" tIns="0" rIns="0" bIns="0" rtlCol="0" anchor="ctr"/>
          <a:lstStyle/>
          <a:p>
            <a:pPr algn="l" indent="0" marL="0">
              <a:buNone/>
            </a:pPr>
            <a:r>
              <a:rPr lang="en-US" sz="3600" b="1" dirty="0">
                <a:solidFill>
                  <a:schemeClr val="tx2"/>
                </a:solidFill>
              </a:rPr>
              <a:t>Who Pays, Who Uses</a:t>
            </a:r>
            <a:endParaRPr lang="en-US" sz="3600" dirty="0"/>
          </a:p>
        </p:txBody>
      </p:sp>
      <p:sp>
        <p:nvSpPr>
          <p:cNvPr id="3" name="Customer card"/>
          <p:cNvSpPr/>
          <p:nvPr/>
        </p:nvSpPr>
        <p:spPr>
          <a:xfrm>
            <a:off x="548640" y="1371600"/>
            <a:ext cx="3566160" cy="2286000"/>
          </a:xfrm>
          <a:prstGeom prst="roundRect">
            <a:avLst>
              <a:gd name="adj" fmla="val 6000"/>
            </a:avLst>
          </a:prstGeom>
          <a:solidFill>
            <a:schemeClr val="bg2"/>
          </a:solidFill>
          <a:ln/>
        </p:spPr>
      </p:sp>
      <p:sp>
        <p:nvSpPr>
          <p:cNvPr id="4" name="Customer icon circle"/>
          <p:cNvSpPr/>
          <p:nvPr/>
        </p:nvSpPr>
        <p:spPr>
          <a:xfrm>
            <a:off x="822960" y="1645920"/>
            <a:ext cx="731520" cy="731520"/>
          </a:xfrm>
          <a:prstGeom prst="ellipse">
            <a:avLst/>
          </a:prstGeom>
          <a:solidFill>
            <a:schemeClr val="accent1"/>
          </a:solidFill>
          <a:ln/>
        </p:spPr>
      </p:sp>
      <p:pic>
        <p:nvPicPr>
          <p:cNvPr id="5" name="Customer icon" descr="Customer icon">    </p:cNvPr>
          <p:cNvPicPr>
            <a:picLocks noChangeAspect="1"/>
          </p:cNvPicPr>
          <p:nvPr/>
        </p:nvPicPr>
        <p:blipFill>
          <a:blip r:embed="rId1"/>
          <a:stretch>
            <a:fillRect/>
          </a:stretch>
        </p:blipFill>
        <p:spPr>
          <a:xfrm>
            <a:off x="1005840" y="1828800"/>
            <a:ext cx="365760" cy="365760"/>
          </a:xfrm>
          <a:prstGeom prst="rect">
            <a:avLst/>
          </a:prstGeom>
        </p:spPr>
      </p:pic>
      <p:sp>
        <p:nvSpPr>
          <p:cNvPr id="6" name="Customer tag"/>
          <p:cNvSpPr txBox="1"/>
          <p:nvPr/>
        </p:nvSpPr>
        <p:spPr>
          <a:xfrm>
            <a:off x="822960" y="2560320"/>
            <a:ext cx="3017520" cy="274320"/>
          </a:xfrm>
          <a:prstGeom prst="rect">
            <a:avLst/>
          </a:prstGeom>
          <a:noFill/>
          <a:ln/>
        </p:spPr>
        <p:txBody>
          <a:bodyPr wrap="square" lIns="0" tIns="0" rIns="0" bIns="0" rtlCol="0" anchor="ctr"/>
          <a:lstStyle/>
          <a:p>
            <a:pPr indent="0" marL="0">
              <a:buNone/>
            </a:pPr>
            <a:r>
              <a:rPr lang="en-US" sz="1200" b="1" spc="200" kern="0" dirty="0">
                <a:solidFill>
                  <a:schemeClr val="accent1"/>
                </a:solidFill>
              </a:rPr>
              <a:t>OUR CUSTOMER</a:t>
            </a:r>
            <a:endParaRPr lang="en-US" sz="1200" dirty="0"/>
          </a:p>
        </p:txBody>
      </p:sp>
      <p:sp>
        <p:nvSpPr>
          <p:cNvPr id="7" name="Customer name"/>
          <p:cNvSpPr txBox="1"/>
          <p:nvPr/>
        </p:nvSpPr>
        <p:spPr>
          <a:xfrm>
            <a:off x="822960" y="2788920"/>
            <a:ext cx="3017520" cy="411480"/>
          </a:xfrm>
          <a:prstGeom prst="rect">
            <a:avLst/>
          </a:prstGeom>
          <a:noFill/>
          <a:ln/>
        </p:spPr>
        <p:txBody>
          <a:bodyPr wrap="square" lIns="0" tIns="0" rIns="0" bIns="0" rtlCol="0" anchor="ctr"/>
          <a:lstStyle/>
          <a:p>
            <a:pPr indent="0" marL="0">
              <a:buNone/>
            </a:pPr>
            <a:r>
              <a:rPr lang="en-US" sz="2400" b="1" dirty="0">
                <a:solidFill>
                  <a:schemeClr val="tx2"/>
                </a:solidFill>
              </a:rPr>
              <a:t>The pet parent</a:t>
            </a:r>
            <a:endParaRPr lang="en-US" sz="2400" dirty="0"/>
          </a:p>
        </p:txBody>
      </p:sp>
      <p:sp>
        <p:nvSpPr>
          <p:cNvPr id="8" name="Customer role"/>
          <p:cNvSpPr txBox="1"/>
          <p:nvPr/>
        </p:nvSpPr>
        <p:spPr>
          <a:xfrm>
            <a:off x="822960" y="3200400"/>
            <a:ext cx="3017520" cy="320040"/>
          </a:xfrm>
          <a:prstGeom prst="rect">
            <a:avLst/>
          </a:prstGeom>
          <a:noFill/>
          <a:ln/>
        </p:spPr>
        <p:txBody>
          <a:bodyPr wrap="square" lIns="0" tIns="0" rIns="0" bIns="0" rtlCol="0" anchor="ctr"/>
          <a:lstStyle/>
          <a:p>
            <a:pPr indent="0" marL="0">
              <a:buNone/>
            </a:pPr>
            <a:r>
              <a:rPr lang="en-US" sz="1600" dirty="0">
                <a:solidFill>
                  <a:schemeClr val="tx1"/>
                </a:solidFill>
              </a:rPr>
              <a:t>Pays and decides</a:t>
            </a:r>
            <a:endParaRPr lang="en-US" sz="1600" dirty="0"/>
          </a:p>
        </p:txBody>
      </p:sp>
      <p:sp>
        <p:nvSpPr>
          <p:cNvPr id="9" name="Arrow"/>
          <p:cNvSpPr/>
          <p:nvPr/>
        </p:nvSpPr>
        <p:spPr>
          <a:xfrm>
            <a:off x="4206240" y="2514600"/>
            <a:ext cx="731520" cy="0"/>
          </a:xfrm>
          <a:prstGeom prst="line">
            <a:avLst/>
          </a:prstGeom>
          <a:noFill/>
          <a:ln w="50800">
            <a:solidFill>
              <a:schemeClr val="accent2"/>
            </a:solidFill>
            <a:prstDash val="solid"/>
            <a:tailEnd type="triangle"/>
          </a:ln>
        </p:spPr>
      </p:sp>
      <p:sp>
        <p:nvSpPr>
          <p:cNvPr id="10" name="Consumer card"/>
          <p:cNvSpPr/>
          <p:nvPr/>
        </p:nvSpPr>
        <p:spPr>
          <a:xfrm>
            <a:off x="5029200" y="1371600"/>
            <a:ext cx="3566160" cy="2286000"/>
          </a:xfrm>
          <a:prstGeom prst="roundRect">
            <a:avLst>
              <a:gd name="adj" fmla="val 6000"/>
            </a:avLst>
          </a:prstGeom>
          <a:solidFill>
            <a:schemeClr val="tx2"/>
          </a:solidFill>
          <a:ln/>
        </p:spPr>
      </p:sp>
      <p:sp>
        <p:nvSpPr>
          <p:cNvPr id="11" name="Consumer icon circle"/>
          <p:cNvSpPr/>
          <p:nvPr/>
        </p:nvSpPr>
        <p:spPr>
          <a:xfrm>
            <a:off x="5303520" y="1645920"/>
            <a:ext cx="731520" cy="731520"/>
          </a:xfrm>
          <a:prstGeom prst="ellipse">
            <a:avLst/>
          </a:prstGeom>
          <a:solidFill>
            <a:schemeClr val="accent2"/>
          </a:solidFill>
          <a:ln/>
        </p:spPr>
      </p:sp>
      <p:pic>
        <p:nvPicPr>
          <p:cNvPr id="12" name="Consumer icon" descr="Consumer icon">    </p:cNvPr>
          <p:cNvPicPr>
            <a:picLocks noChangeAspect="1"/>
          </p:cNvPicPr>
          <p:nvPr/>
        </p:nvPicPr>
        <p:blipFill>
          <a:blip r:embed="rId2"/>
          <a:stretch>
            <a:fillRect/>
          </a:stretch>
        </p:blipFill>
        <p:spPr>
          <a:xfrm>
            <a:off x="5486400" y="1828800"/>
            <a:ext cx="365760" cy="365760"/>
          </a:xfrm>
          <a:prstGeom prst="rect">
            <a:avLst/>
          </a:prstGeom>
        </p:spPr>
      </p:pic>
      <p:sp>
        <p:nvSpPr>
          <p:cNvPr id="13" name="Consumer tag"/>
          <p:cNvSpPr txBox="1"/>
          <p:nvPr/>
        </p:nvSpPr>
        <p:spPr>
          <a:xfrm>
            <a:off x="5303520" y="2560320"/>
            <a:ext cx="3017520" cy="274320"/>
          </a:xfrm>
          <a:prstGeom prst="rect">
            <a:avLst/>
          </a:prstGeom>
          <a:noFill/>
          <a:ln/>
        </p:spPr>
        <p:txBody>
          <a:bodyPr wrap="square" lIns="0" tIns="0" rIns="0" bIns="0" rtlCol="0" anchor="ctr"/>
          <a:lstStyle/>
          <a:p>
            <a:pPr indent="0" marL="0">
              <a:buNone/>
            </a:pPr>
            <a:r>
              <a:rPr lang="en-US" sz="1200" b="1" spc="200" kern="0" dirty="0">
                <a:solidFill>
                  <a:schemeClr val="accent3"/>
                </a:solidFill>
              </a:rPr>
              <a:t>OUR CONSUMER</a:t>
            </a:r>
            <a:endParaRPr lang="en-US" sz="1200" dirty="0"/>
          </a:p>
        </p:txBody>
      </p:sp>
      <p:sp>
        <p:nvSpPr>
          <p:cNvPr id="14" name="Consumer name"/>
          <p:cNvSpPr txBox="1"/>
          <p:nvPr/>
        </p:nvSpPr>
        <p:spPr>
          <a:xfrm>
            <a:off x="5303520" y="2788920"/>
            <a:ext cx="3017520" cy="411480"/>
          </a:xfrm>
          <a:prstGeom prst="rect">
            <a:avLst/>
          </a:prstGeom>
          <a:noFill/>
          <a:ln/>
        </p:spPr>
        <p:txBody>
          <a:bodyPr wrap="square" lIns="0" tIns="0" rIns="0" bIns="0" rtlCol="0" anchor="ctr"/>
          <a:lstStyle/>
          <a:p>
            <a:pPr indent="0" marL="0">
              <a:buNone/>
            </a:pPr>
            <a:r>
              <a:rPr lang="en-US" sz="2400" b="1" dirty="0">
                <a:solidFill>
                  <a:schemeClr val="bg1"/>
                </a:solidFill>
              </a:rPr>
              <a:t>The pet</a:t>
            </a:r>
            <a:endParaRPr lang="en-US" sz="2400" dirty="0"/>
          </a:p>
        </p:txBody>
      </p:sp>
      <p:sp>
        <p:nvSpPr>
          <p:cNvPr id="15" name="Consumer role"/>
          <p:cNvSpPr txBox="1"/>
          <p:nvPr/>
        </p:nvSpPr>
        <p:spPr>
          <a:xfrm>
            <a:off x="5303520" y="3200400"/>
            <a:ext cx="3017520" cy="320040"/>
          </a:xfrm>
          <a:prstGeom prst="rect">
            <a:avLst/>
          </a:prstGeom>
          <a:noFill/>
          <a:ln/>
        </p:spPr>
        <p:txBody>
          <a:bodyPr wrap="square" lIns="0" tIns="0" rIns="0" bIns="0" rtlCol="0" anchor="ctr"/>
          <a:lstStyle/>
          <a:p>
            <a:pPr indent="0" marL="0">
              <a:buNone/>
            </a:pPr>
            <a:r>
              <a:rPr lang="en-US" sz="1600" dirty="0">
                <a:solidFill>
                  <a:schemeClr val="bg1"/>
                </a:solidFill>
              </a:rPr>
              <a:t>Wears and uses</a:t>
            </a:r>
            <a:endParaRPr lang="en-US" sz="1600" dirty="0"/>
          </a:p>
        </p:txBody>
      </p:sp>
      <p:sp>
        <p:nvSpPr>
          <p:cNvPr id="16" name="Takeaway"/>
          <p:cNvSpPr txBox="1"/>
          <p:nvPr/>
        </p:nvSpPr>
        <p:spPr>
          <a:xfrm>
            <a:off x="548640" y="4023360"/>
            <a:ext cx="8046720" cy="457200"/>
          </a:xfrm>
          <a:prstGeom prst="rect">
            <a:avLst/>
          </a:prstGeom>
          <a:noFill/>
          <a:ln/>
        </p:spPr>
        <p:txBody>
          <a:bodyPr wrap="square" lIns="0" tIns="0" rIns="0" bIns="0" rtlCol="0" anchor="ctr"/>
          <a:lstStyle/>
          <a:p>
            <a:pPr indent="0" marL="0">
              <a:buNone/>
            </a:pPr>
            <a:r>
              <a:rPr lang="en-US" sz="2400" b="1" dirty="0">
                <a:solidFill>
                  <a:schemeClr val="tx2"/>
                </a:solidFill>
              </a:rPr>
              <a:t>Win the parent. Delight the pet.</a:t>
            </a:r>
            <a:endParaRPr lang="en-US" sz="2400" dirty="0"/>
          </a:p>
        </p:txBody>
      </p:sp>
      <p:sp>
        <p:nvSpPr>
          <p:cNvPr id="25" name="Slide Number Placeholder 0"/>
          <p:cNvSpPr>
            <a:spLocks noGrp="1"/>
          </p:cNvSpPr>
          <p:nvPr>
            <p:ph type="sldNum" sz="quarter" idx="4294967295"/>
          </p:nvPr>
        </p:nvSpPr>
        <p:spPr>
          <a:xfrm>
            <a:off x="8229600" y="470916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Customer photo" descr="Our team talking to a customer at the stall">    </p:cNvPr>
          <p:cNvPicPr>
            <a:picLocks noChangeAspect="1"/>
          </p:cNvPicPr>
          <p:nvPr/>
        </p:nvPicPr>
        <p:blipFill>
          <a:blip r:embed="rId1"/>
          <a:stretch>
            <a:fillRect/>
          </a:stretch>
        </p:blipFill>
        <p:spPr>
          <a:xfrm>
            <a:off x="548640" y="457200"/>
            <a:ext cx="3291840" cy="4229100"/>
          </a:xfrm>
          <a:prstGeom prst="rect">
            <a:avLst/>
          </a:prstGeom>
        </p:spPr>
      </p:pic>
      <p:sp>
        <p:nvSpPr>
          <p:cNvPr id="3" name="Section number"/>
          <p:cNvSpPr txBox="1"/>
          <p:nvPr/>
        </p:nvSpPr>
        <p:spPr>
          <a:xfrm>
            <a:off x="4480560" y="640080"/>
            <a:ext cx="411480" cy="411480"/>
          </a:xfrm>
          <a:prstGeom prst="ellipse">
            <a:avLst/>
          </a:prstGeom>
          <a:solidFill>
            <a:schemeClr val="accent2"/>
          </a:solid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4" name="Section label"/>
          <p:cNvSpPr txBox="1"/>
          <p:nvPr/>
        </p:nvSpPr>
        <p:spPr>
          <a:xfrm>
            <a:off x="5029200" y="640080"/>
            <a:ext cx="3566160" cy="411480"/>
          </a:xfrm>
          <a:prstGeom prst="rect">
            <a:avLst/>
          </a:prstGeom>
          <a:noFill/>
          <a:ln/>
        </p:spPr>
        <p:txBody>
          <a:bodyPr wrap="square" lIns="0" tIns="0" rIns="0" bIns="0" rtlCol="0" anchor="ctr"/>
          <a:lstStyle/>
          <a:p>
            <a:pPr indent="0" marL="0">
              <a:buNone/>
            </a:pPr>
            <a:r>
              <a:rPr lang="en-US" sz="1400" b="1" spc="300" kern="0" dirty="0">
                <a:solidFill>
                  <a:schemeClr val="tx2"/>
                </a:solidFill>
              </a:rPr>
              <a:t>CUSTOMERS</a:t>
            </a:r>
            <a:endParaRPr lang="en-US" sz="1400" dirty="0"/>
          </a:p>
        </p:txBody>
      </p:sp>
      <p:sp>
        <p:nvSpPr>
          <p:cNvPr id="5" name="Text 0"/>
          <p:cNvSpPr/>
          <p:nvPr>
            <p:ph idx="100" type="title" hasCustomPrompt="1"/>
          </p:nvPr>
        </p:nvSpPr>
        <p:spPr>
          <a:xfrm>
            <a:off x="4480560" y="1143000"/>
            <a:ext cx="4114800" cy="1371600"/>
          </a:xfrm>
          <a:prstGeom prst="rect">
            <a:avLst/>
          </a:prstGeom>
          <a:noFill/>
          <a:ln/>
        </p:spPr>
        <p:txBody>
          <a:bodyPr wrap="square" lIns="0" tIns="0" rIns="0" bIns="0" rtlCol="0" anchor="t"/>
          <a:lstStyle/>
          <a:p>
            <a:pPr algn="l" indent="0" marL="0">
              <a:buNone/>
            </a:pPr>
            <a:r>
              <a:rPr lang="en-US" sz="3600" b="1" dirty="0">
                <a:solidFill>
                  <a:schemeClr val="tx2"/>
                </a:solidFill>
              </a:rPr>
              <a:t>Smartly judge the customer</a:t>
            </a:r>
            <a:endParaRPr lang="en-US" sz="3600" dirty="0"/>
          </a:p>
        </p:txBody>
      </p:sp>
      <p:sp>
        <p:nvSpPr>
          <p:cNvPr id="6" name="Text 0"/>
          <p:cNvSpPr/>
          <p:nvPr>
            <p:ph idx="101" type="body" hasCustomPrompt="1"/>
          </p:nvPr>
        </p:nvSpPr>
        <p:spPr>
          <a:xfrm>
            <a:off x="4480560" y="2651760"/>
            <a:ext cx="4114800" cy="914400"/>
          </a:xfrm>
          <a:prstGeom prst="rect">
            <a:avLst/>
          </a:prstGeom>
          <a:noFill/>
          <a:ln/>
        </p:spPr>
        <p:txBody>
          <a:bodyPr wrap="square" lIns="0" tIns="0" rIns="0" bIns="0" rtlCol="0" anchor="t"/>
          <a:lstStyle/>
          <a:p>
            <a:pPr algn="l" indent="0" marL="0">
              <a:buNone/>
            </a:pPr>
            <a:r>
              <a:rPr lang="en-US" sz="1800" dirty="0">
                <a:solidFill>
                  <a:schemeClr val="tx1"/>
                </a:solidFill>
              </a:rPr>
              <a:t>Read them first, then tailor the pitch.</a:t>
            </a:r>
            <a:endParaRPr lang="en-US" sz="1800" dirty="0"/>
          </a:p>
        </p:txBody>
      </p:sp>
      <p:sp>
        <p:nvSpPr>
          <p:cNvPr id="7" name="Number 1"/>
          <p:cNvSpPr txBox="1"/>
          <p:nvPr/>
        </p:nvSpPr>
        <p:spPr>
          <a:xfrm>
            <a:off x="4480560" y="3429000"/>
            <a:ext cx="347472" cy="347472"/>
          </a:xfrm>
          <a:prstGeom prst="ellipse">
            <a:avLst/>
          </a:prstGeom>
          <a:solidFill>
            <a:schemeClr val="accent2"/>
          </a:solid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8" name="Row 1"/>
          <p:cNvSpPr txBox="1"/>
          <p:nvPr/>
        </p:nvSpPr>
        <p:spPr>
          <a:xfrm>
            <a:off x="4983480" y="3429000"/>
            <a:ext cx="3566160" cy="347472"/>
          </a:xfrm>
          <a:prstGeom prst="rect">
            <a:avLst/>
          </a:prstGeom>
          <a:noFill/>
          <a:ln/>
        </p:spPr>
        <p:txBody>
          <a:bodyPr wrap="square" lIns="0" tIns="0" rIns="0" bIns="0" rtlCol="0" anchor="ctr"/>
          <a:lstStyle/>
          <a:p>
            <a:pPr indent="0" marL="0">
              <a:buNone/>
            </a:pPr>
            <a:r>
              <a:rPr lang="en-US" sz="1800" b="1" dirty="0">
                <a:solidFill>
                  <a:schemeClr val="tx1"/>
                </a:solidFill>
              </a:rPr>
              <a:t>Look: who are they shopping for?</a:t>
            </a:r>
            <a:endParaRPr lang="en-US" sz="1800" dirty="0"/>
          </a:p>
        </p:txBody>
      </p:sp>
      <p:sp>
        <p:nvSpPr>
          <p:cNvPr id="9" name="Number 2"/>
          <p:cNvSpPr txBox="1"/>
          <p:nvPr/>
        </p:nvSpPr>
        <p:spPr>
          <a:xfrm>
            <a:off x="4480560" y="3840480"/>
            <a:ext cx="347472" cy="347472"/>
          </a:xfrm>
          <a:prstGeom prst="ellipse">
            <a:avLst/>
          </a:prstGeom>
          <a:solidFill>
            <a:schemeClr val="accent2"/>
          </a:solid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0" name="Row 2"/>
          <p:cNvSpPr txBox="1"/>
          <p:nvPr/>
        </p:nvSpPr>
        <p:spPr>
          <a:xfrm>
            <a:off x="4983480" y="3840480"/>
            <a:ext cx="3566160" cy="347472"/>
          </a:xfrm>
          <a:prstGeom prst="rect">
            <a:avLst/>
          </a:prstGeom>
          <a:noFill/>
          <a:ln/>
        </p:spPr>
        <p:txBody>
          <a:bodyPr wrap="square" lIns="0" tIns="0" rIns="0" bIns="0" rtlCol="0" anchor="ctr"/>
          <a:lstStyle/>
          <a:p>
            <a:pPr indent="0" marL="0">
              <a:buNone/>
            </a:pPr>
            <a:r>
              <a:rPr lang="en-US" sz="1800" b="1" dirty="0">
                <a:solidFill>
                  <a:schemeClr val="tx1"/>
                </a:solidFill>
              </a:rPr>
              <a:t>Ask: what does their pet need?</a:t>
            </a:r>
            <a:endParaRPr lang="en-US" sz="1800" dirty="0"/>
          </a:p>
        </p:txBody>
      </p:sp>
      <p:sp>
        <p:nvSpPr>
          <p:cNvPr id="11" name="Number 3"/>
          <p:cNvSpPr txBox="1"/>
          <p:nvPr/>
        </p:nvSpPr>
        <p:spPr>
          <a:xfrm>
            <a:off x="4480560" y="4251960"/>
            <a:ext cx="347472" cy="347472"/>
          </a:xfrm>
          <a:prstGeom prst="ellipse">
            <a:avLst/>
          </a:prstGeom>
          <a:solidFill>
            <a:schemeClr val="accent2"/>
          </a:solid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2" name="Row 3"/>
          <p:cNvSpPr txBox="1"/>
          <p:nvPr/>
        </p:nvSpPr>
        <p:spPr>
          <a:xfrm>
            <a:off x="4983480" y="4251960"/>
            <a:ext cx="3566160" cy="347472"/>
          </a:xfrm>
          <a:prstGeom prst="rect">
            <a:avLst/>
          </a:prstGeom>
          <a:noFill/>
          <a:ln/>
        </p:spPr>
        <p:txBody>
          <a:bodyPr wrap="square" lIns="0" tIns="0" rIns="0" bIns="0" rtlCol="0" anchor="ctr"/>
          <a:lstStyle/>
          <a:p>
            <a:pPr indent="0" marL="0">
              <a:buNone/>
            </a:pPr>
            <a:r>
              <a:rPr lang="en-US" sz="1800" b="1" dirty="0">
                <a:solidFill>
                  <a:schemeClr val="tx1"/>
                </a:solidFill>
              </a:rPr>
              <a:t>Tailor: the pitch, combo and price</a:t>
            </a:r>
            <a:endParaRPr lang="en-US" sz="1800" dirty="0"/>
          </a:p>
        </p:txBody>
      </p:sp>
      <p:sp>
        <p:nvSpPr>
          <p:cNvPr id="25" name="Slide Number Placeholder 0"/>
          <p:cNvSpPr>
            <a:spLocks noGrp="1"/>
          </p:cNvSpPr>
          <p:nvPr>
            <p:ph type="sldNum" sz="quarter" idx="4294967295"/>
          </p:nvPr>
        </p:nvSpPr>
        <p:spPr>
          <a:xfrm>
            <a:off x="8229600" y="470916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ection number"/>
          <p:cNvSpPr txBox="1"/>
          <p:nvPr/>
        </p:nvSpPr>
        <p:spPr>
          <a:xfrm>
            <a:off x="548640" y="640080"/>
            <a:ext cx="411480" cy="411480"/>
          </a:xfrm>
          <a:prstGeom prst="ellipse">
            <a:avLst/>
          </a:prstGeom>
          <a:solidFill>
            <a:schemeClr val="accent2"/>
          </a:solid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3" name="Section label"/>
          <p:cNvSpPr txBox="1"/>
          <p:nvPr/>
        </p:nvSpPr>
        <p:spPr>
          <a:xfrm>
            <a:off x="1097280" y="640080"/>
            <a:ext cx="3566160" cy="411480"/>
          </a:xfrm>
          <a:prstGeom prst="rect">
            <a:avLst/>
          </a:prstGeom>
          <a:noFill/>
          <a:ln/>
        </p:spPr>
        <p:txBody>
          <a:bodyPr wrap="square" lIns="0" tIns="0" rIns="0" bIns="0" rtlCol="0" anchor="ctr"/>
          <a:lstStyle/>
          <a:p>
            <a:pPr indent="0" marL="0">
              <a:buNone/>
            </a:pPr>
            <a:r>
              <a:rPr lang="en-US" sz="1400" b="1" spc="300" kern="0" dirty="0">
                <a:solidFill>
                  <a:schemeClr val="tx2"/>
                </a:solidFill>
              </a:rPr>
              <a:t>PRICING &amp; PROFIT</a:t>
            </a:r>
            <a:endParaRPr lang="en-US" sz="1400" dirty="0"/>
          </a:p>
        </p:txBody>
      </p:sp>
      <p:sp>
        <p:nvSpPr>
          <p:cNvPr id="4" name="Text 0"/>
          <p:cNvSpPr/>
          <p:nvPr>
            <p:ph idx="100" type="title" hasCustomPrompt="1"/>
          </p:nvPr>
        </p:nvSpPr>
        <p:spPr>
          <a:xfrm>
            <a:off x="548640" y="1143000"/>
            <a:ext cx="4480560" cy="1371600"/>
          </a:xfrm>
          <a:prstGeom prst="rect">
            <a:avLst/>
          </a:prstGeom>
          <a:noFill/>
          <a:ln/>
        </p:spPr>
        <p:txBody>
          <a:bodyPr wrap="square" lIns="0" tIns="0" rIns="0" bIns="0" rtlCol="0" anchor="t"/>
          <a:lstStyle/>
          <a:p>
            <a:pPr algn="l" indent="0" marL="0">
              <a:buNone/>
            </a:pPr>
            <a:r>
              <a:rPr lang="en-US" sz="3600" b="1" dirty="0">
                <a:solidFill>
                  <a:schemeClr val="tx2"/>
                </a:solidFill>
              </a:rPr>
              <a:t>Value product, not volume product</a:t>
            </a:r>
            <a:endParaRPr lang="en-US" sz="3600" dirty="0"/>
          </a:p>
        </p:txBody>
      </p:sp>
      <p:sp>
        <p:nvSpPr>
          <p:cNvPr id="5" name="Text 0"/>
          <p:cNvSpPr/>
          <p:nvPr>
            <p:ph idx="101" type="body" hasCustomPrompt="1"/>
          </p:nvPr>
        </p:nvSpPr>
        <p:spPr>
          <a:xfrm>
            <a:off x="548640" y="2651760"/>
            <a:ext cx="4297680" cy="914400"/>
          </a:xfrm>
          <a:prstGeom prst="rect">
            <a:avLst/>
          </a:prstGeom>
          <a:noFill/>
          <a:ln/>
        </p:spPr>
        <p:txBody>
          <a:bodyPr wrap="square" lIns="0" tIns="0" rIns="0" bIns="0" rtlCol="0" anchor="t"/>
          <a:lstStyle/>
          <a:p>
            <a:pPr algn="l" indent="0" marL="0">
              <a:buNone/>
            </a:pPr>
            <a:r>
              <a:rPr lang="en-US" sz="1800" dirty="0">
                <a:solidFill>
                  <a:schemeClr val="tx1"/>
                </a:solidFill>
              </a:rPr>
              <a:t>Fewer, better sales beat many cheap ones.</a:t>
            </a:r>
            <a:endParaRPr lang="en-US" sz="1800" dirty="0"/>
          </a:p>
        </p:txBody>
      </p:sp>
      <p:pic>
        <p:nvPicPr>
          <p:cNvPr id="6" name="Checkout photo" descr="Customers paying at our stall by QR code">    </p:cNvPr>
          <p:cNvPicPr>
            <a:picLocks noChangeAspect="1"/>
          </p:cNvPicPr>
          <p:nvPr/>
        </p:nvPicPr>
        <p:blipFill>
          <a:blip r:embed="rId1"/>
          <a:stretch>
            <a:fillRect/>
          </a:stretch>
        </p:blipFill>
        <p:spPr>
          <a:xfrm>
            <a:off x="5029200" y="1234440"/>
            <a:ext cx="3566160" cy="2651760"/>
          </a:xfrm>
          <a:prstGeom prst="rect">
            <a:avLst/>
          </a:prstGeom>
        </p:spPr>
      </p:pic>
      <p:sp>
        <p:nvSpPr>
          <p:cNvPr id="7" name="Photo caption"/>
          <p:cNvSpPr txBox="1"/>
          <p:nvPr/>
        </p:nvSpPr>
        <p:spPr>
          <a:xfrm>
            <a:off x="5029200" y="4023360"/>
            <a:ext cx="3566160" cy="274320"/>
          </a:xfrm>
          <a:prstGeom prst="rect">
            <a:avLst/>
          </a:prstGeom>
          <a:noFill/>
          <a:ln/>
        </p:spPr>
        <p:txBody>
          <a:bodyPr wrap="square" lIns="0" tIns="0" rIns="0" bIns="0" rtlCol="0" anchor="ctr"/>
          <a:lstStyle/>
          <a:p>
            <a:pPr indent="0" marL="0">
              <a:buNone/>
            </a:pPr>
            <a:r>
              <a:rPr lang="en-US" sz="1200" dirty="0">
                <a:solidFill>
                  <a:schemeClr val="tx1"/>
                </a:solidFill>
              </a:rPr>
              <a:t>Paying at the stall</a:t>
            </a:r>
            <a:endParaRPr lang="en-US" sz="1200" dirty="0"/>
          </a:p>
        </p:txBody>
      </p:sp>
      <p:sp>
        <p:nvSpPr>
          <p:cNvPr id="25" name="Slide Number Placeholder 0"/>
          <p:cNvSpPr>
            <a:spLocks noGrp="1"/>
          </p:cNvSpPr>
          <p:nvPr>
            <p:ph type="sldNum" sz="quarter" idx="4294967295"/>
          </p:nvPr>
        </p:nvSpPr>
        <p:spPr>
          <a:xfrm>
            <a:off x="8229600" y="470916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8046720" cy="731520"/>
          </a:xfrm>
          <a:prstGeom prst="rect">
            <a:avLst/>
          </a:prstGeom>
          <a:noFill/>
          <a:ln/>
        </p:spPr>
        <p:txBody>
          <a:bodyPr wrap="square" lIns="0" tIns="0" rIns="0" bIns="0" rtlCol="0" anchor="ctr"/>
          <a:lstStyle/>
          <a:p>
            <a:pPr algn="l" indent="0" marL="0">
              <a:buNone/>
            </a:pPr>
            <a:r>
              <a:rPr lang="en-US" sz="3600" b="1" dirty="0">
                <a:solidFill>
                  <a:schemeClr val="tx2"/>
                </a:solidFill>
              </a:rPr>
              <a:t>Value vs Volume</a:t>
            </a:r>
            <a:endParaRPr lang="en-US" sz="3600" dirty="0"/>
          </a:p>
        </p:txBody>
      </p:sp>
      <p:sp>
        <p:nvSpPr>
          <p:cNvPr id="3" name="Volume card"/>
          <p:cNvSpPr/>
          <p:nvPr/>
        </p:nvSpPr>
        <p:spPr>
          <a:xfrm>
            <a:off x="548640" y="1371600"/>
            <a:ext cx="3840480" cy="2514600"/>
          </a:xfrm>
          <a:prstGeom prst="roundRect">
            <a:avLst>
              <a:gd name="adj" fmla="val 5455"/>
            </a:avLst>
          </a:prstGeom>
          <a:solidFill>
            <a:schemeClr val="bg2"/>
          </a:solidFill>
          <a:ln/>
        </p:spPr>
      </p:sp>
      <p:sp>
        <p:nvSpPr>
          <p:cNvPr id="4" name="Volume heading"/>
          <p:cNvSpPr txBox="1"/>
          <p:nvPr/>
        </p:nvSpPr>
        <p:spPr>
          <a:xfrm>
            <a:off x="822960" y="1554480"/>
            <a:ext cx="3291840" cy="457200"/>
          </a:xfrm>
          <a:prstGeom prst="rect">
            <a:avLst/>
          </a:prstGeom>
          <a:noFill/>
          <a:ln/>
        </p:spPr>
        <p:txBody>
          <a:bodyPr wrap="square" lIns="0" tIns="0" rIns="0" bIns="0" rtlCol="0" anchor="ctr"/>
          <a:lstStyle/>
          <a:p>
            <a:pPr indent="0" marL="0">
              <a:buNone/>
            </a:pPr>
            <a:r>
              <a:rPr lang="en-US" sz="2800" b="1" dirty="0">
                <a:solidFill>
                  <a:schemeClr val="tx1"/>
                </a:solidFill>
              </a:rPr>
              <a:t>VOLUME</a:t>
            </a:r>
            <a:endParaRPr lang="en-US" sz="2800" dirty="0"/>
          </a:p>
        </p:txBody>
      </p:sp>
      <p:pic>
        <p:nvPicPr>
          <p:cNvPr id="5" name="Volume bullet 1" descr="preencoded.png">    </p:cNvPr>
          <p:cNvPicPr>
            <a:picLocks noChangeAspect="1"/>
          </p:cNvPicPr>
          <p:nvPr/>
        </p:nvPicPr>
        <p:blipFill>
          <a:blip r:embed="rId1"/>
          <a:stretch>
            <a:fillRect/>
          </a:stretch>
        </p:blipFill>
        <p:spPr>
          <a:xfrm>
            <a:off x="822960" y="2249424"/>
            <a:ext cx="274320" cy="274320"/>
          </a:xfrm>
          <a:prstGeom prst="rect">
            <a:avLst/>
          </a:prstGeom>
        </p:spPr>
      </p:pic>
      <p:sp>
        <p:nvSpPr>
          <p:cNvPr id="6" name="Volume point 1"/>
          <p:cNvSpPr txBox="1"/>
          <p:nvPr/>
        </p:nvSpPr>
        <p:spPr>
          <a:xfrm>
            <a:off x="1234440" y="2194560"/>
            <a:ext cx="3017520" cy="384048"/>
          </a:xfrm>
          <a:prstGeom prst="rect">
            <a:avLst/>
          </a:prstGeom>
          <a:noFill/>
          <a:ln/>
        </p:spPr>
        <p:txBody>
          <a:bodyPr wrap="square" lIns="0" tIns="0" rIns="0" bIns="0" rtlCol="0" anchor="ctr"/>
          <a:lstStyle/>
          <a:p>
            <a:pPr indent="0" marL="0">
              <a:buNone/>
            </a:pPr>
            <a:r>
              <a:rPr lang="en-US" sz="1800" dirty="0">
                <a:solidFill>
                  <a:schemeClr val="tx1"/>
                </a:solidFill>
              </a:rPr>
              <a:t>Low price, many units</a:t>
            </a:r>
            <a:endParaRPr lang="en-US" sz="1800" dirty="0"/>
          </a:p>
        </p:txBody>
      </p:sp>
      <p:pic>
        <p:nvPicPr>
          <p:cNvPr id="7" name="Volume bullet 2" descr="preencoded.png">    </p:cNvPr>
          <p:cNvPicPr>
            <a:picLocks noChangeAspect="1"/>
          </p:cNvPicPr>
          <p:nvPr/>
        </p:nvPicPr>
        <p:blipFill>
          <a:blip r:embed="rId2"/>
          <a:stretch>
            <a:fillRect/>
          </a:stretch>
        </p:blipFill>
        <p:spPr>
          <a:xfrm>
            <a:off x="822960" y="2779776"/>
            <a:ext cx="274320" cy="274320"/>
          </a:xfrm>
          <a:prstGeom prst="rect">
            <a:avLst/>
          </a:prstGeom>
        </p:spPr>
      </p:pic>
      <p:sp>
        <p:nvSpPr>
          <p:cNvPr id="8" name="Volume point 2"/>
          <p:cNvSpPr txBox="1"/>
          <p:nvPr/>
        </p:nvSpPr>
        <p:spPr>
          <a:xfrm>
            <a:off x="1234440" y="2724912"/>
            <a:ext cx="3017520" cy="384048"/>
          </a:xfrm>
          <a:prstGeom prst="rect">
            <a:avLst/>
          </a:prstGeom>
          <a:noFill/>
          <a:ln/>
        </p:spPr>
        <p:txBody>
          <a:bodyPr wrap="square" lIns="0" tIns="0" rIns="0" bIns="0" rtlCol="0" anchor="ctr"/>
          <a:lstStyle/>
          <a:p>
            <a:pPr indent="0" marL="0">
              <a:buNone/>
            </a:pPr>
            <a:r>
              <a:rPr lang="en-US" sz="1800" dirty="0">
                <a:solidFill>
                  <a:schemeClr val="tx1"/>
                </a:solidFill>
              </a:rPr>
              <a:t>Thin margin on every sale</a:t>
            </a:r>
            <a:endParaRPr lang="en-US" sz="1800" dirty="0"/>
          </a:p>
        </p:txBody>
      </p:sp>
      <p:pic>
        <p:nvPicPr>
          <p:cNvPr id="9" name="Volume bullet 3" descr="preencoded.png">    </p:cNvPr>
          <p:cNvPicPr>
            <a:picLocks noChangeAspect="1"/>
          </p:cNvPicPr>
          <p:nvPr/>
        </p:nvPicPr>
        <p:blipFill>
          <a:blip r:embed="rId3"/>
          <a:stretch>
            <a:fillRect/>
          </a:stretch>
        </p:blipFill>
        <p:spPr>
          <a:xfrm>
            <a:off x="822960" y="3310128"/>
            <a:ext cx="274320" cy="274320"/>
          </a:xfrm>
          <a:prstGeom prst="rect">
            <a:avLst/>
          </a:prstGeom>
        </p:spPr>
      </p:pic>
      <p:sp>
        <p:nvSpPr>
          <p:cNvPr id="10" name="Volume point 3"/>
          <p:cNvSpPr txBox="1"/>
          <p:nvPr/>
        </p:nvSpPr>
        <p:spPr>
          <a:xfrm>
            <a:off x="1234440" y="3255264"/>
            <a:ext cx="3017520" cy="384048"/>
          </a:xfrm>
          <a:prstGeom prst="rect">
            <a:avLst/>
          </a:prstGeom>
          <a:noFill/>
          <a:ln/>
        </p:spPr>
        <p:txBody>
          <a:bodyPr wrap="square" lIns="0" tIns="0" rIns="0" bIns="0" rtlCol="0" anchor="ctr"/>
          <a:lstStyle/>
          <a:p>
            <a:pPr indent="0" marL="0">
              <a:buNone/>
            </a:pPr>
            <a:r>
              <a:rPr lang="en-US" sz="1800" dirty="0">
                <a:solidFill>
                  <a:schemeClr val="tx1"/>
                </a:solidFill>
              </a:rPr>
              <a:t>Needs big reach to work</a:t>
            </a:r>
            <a:endParaRPr lang="en-US" sz="1800" dirty="0"/>
          </a:p>
        </p:txBody>
      </p:sp>
      <p:sp>
        <p:nvSpPr>
          <p:cNvPr id="11" name="Value card"/>
          <p:cNvSpPr/>
          <p:nvPr/>
        </p:nvSpPr>
        <p:spPr>
          <a:xfrm>
            <a:off x="4754880" y="1371600"/>
            <a:ext cx="3840480" cy="2514600"/>
          </a:xfrm>
          <a:prstGeom prst="roundRect">
            <a:avLst>
              <a:gd name="adj" fmla="val 5455"/>
            </a:avLst>
          </a:prstGeom>
          <a:solidFill>
            <a:schemeClr val="tx2"/>
          </a:solidFill>
          <a:ln/>
        </p:spPr>
      </p:sp>
      <p:sp>
        <p:nvSpPr>
          <p:cNvPr id="12" name="Value heading"/>
          <p:cNvSpPr txBox="1"/>
          <p:nvPr/>
        </p:nvSpPr>
        <p:spPr>
          <a:xfrm>
            <a:off x="5029200" y="1554480"/>
            <a:ext cx="3291840" cy="457200"/>
          </a:xfrm>
          <a:prstGeom prst="rect">
            <a:avLst/>
          </a:prstGeom>
          <a:noFill/>
          <a:ln/>
        </p:spPr>
        <p:txBody>
          <a:bodyPr wrap="square" lIns="0" tIns="0" rIns="0" bIns="0" rtlCol="0" anchor="ctr"/>
          <a:lstStyle/>
          <a:p>
            <a:pPr indent="0" marL="0">
              <a:buNone/>
            </a:pPr>
            <a:r>
              <a:rPr lang="en-US" sz="2800" b="1" dirty="0">
                <a:solidFill>
                  <a:schemeClr val="bg1"/>
                </a:solidFill>
              </a:rPr>
              <a:t>VALUE</a:t>
            </a:r>
            <a:endParaRPr lang="en-US" sz="2800" dirty="0"/>
          </a:p>
        </p:txBody>
      </p:sp>
      <p:pic>
        <p:nvPicPr>
          <p:cNvPr id="13" name="Value bullet 1" descr="preencoded.png">    </p:cNvPr>
          <p:cNvPicPr>
            <a:picLocks noChangeAspect="1"/>
          </p:cNvPicPr>
          <p:nvPr/>
        </p:nvPicPr>
        <p:blipFill>
          <a:blip r:embed="rId4"/>
          <a:stretch>
            <a:fillRect/>
          </a:stretch>
        </p:blipFill>
        <p:spPr>
          <a:xfrm>
            <a:off x="5029200" y="2249424"/>
            <a:ext cx="274320" cy="274320"/>
          </a:xfrm>
          <a:prstGeom prst="rect">
            <a:avLst/>
          </a:prstGeom>
        </p:spPr>
      </p:pic>
      <p:sp>
        <p:nvSpPr>
          <p:cNvPr id="14" name="Value point 1"/>
          <p:cNvSpPr txBox="1"/>
          <p:nvPr/>
        </p:nvSpPr>
        <p:spPr>
          <a:xfrm>
            <a:off x="5440680" y="2194560"/>
            <a:ext cx="3017520" cy="384048"/>
          </a:xfrm>
          <a:prstGeom prst="rect">
            <a:avLst/>
          </a:prstGeom>
          <a:noFill/>
          <a:ln/>
        </p:spPr>
        <p:txBody>
          <a:bodyPr wrap="square" lIns="0" tIns="0" rIns="0" bIns="0" rtlCol="0" anchor="ctr"/>
          <a:lstStyle/>
          <a:p>
            <a:pPr indent="0" marL="0">
              <a:buNone/>
            </a:pPr>
            <a:r>
              <a:rPr lang="en-US" sz="1800" dirty="0">
                <a:solidFill>
                  <a:schemeClr val="bg1"/>
                </a:solidFill>
              </a:rPr>
              <a:t>Better product, fair price</a:t>
            </a:r>
            <a:endParaRPr lang="en-US" sz="1800" dirty="0"/>
          </a:p>
        </p:txBody>
      </p:sp>
      <p:pic>
        <p:nvPicPr>
          <p:cNvPr id="15" name="Value bullet 2" descr="preencoded.png">    </p:cNvPr>
          <p:cNvPicPr>
            <a:picLocks noChangeAspect="1"/>
          </p:cNvPicPr>
          <p:nvPr/>
        </p:nvPicPr>
        <p:blipFill>
          <a:blip r:embed="rId5"/>
          <a:stretch>
            <a:fillRect/>
          </a:stretch>
        </p:blipFill>
        <p:spPr>
          <a:xfrm>
            <a:off x="5029200" y="2779776"/>
            <a:ext cx="274320" cy="274320"/>
          </a:xfrm>
          <a:prstGeom prst="rect">
            <a:avLst/>
          </a:prstGeom>
        </p:spPr>
      </p:pic>
      <p:sp>
        <p:nvSpPr>
          <p:cNvPr id="16" name="Value point 2"/>
          <p:cNvSpPr txBox="1"/>
          <p:nvPr/>
        </p:nvSpPr>
        <p:spPr>
          <a:xfrm>
            <a:off x="5440680" y="2724912"/>
            <a:ext cx="3017520" cy="384048"/>
          </a:xfrm>
          <a:prstGeom prst="rect">
            <a:avLst/>
          </a:prstGeom>
          <a:noFill/>
          <a:ln/>
        </p:spPr>
        <p:txBody>
          <a:bodyPr wrap="square" lIns="0" tIns="0" rIns="0" bIns="0" rtlCol="0" anchor="ctr"/>
          <a:lstStyle/>
          <a:p>
            <a:pPr indent="0" marL="0">
              <a:buNone/>
            </a:pPr>
            <a:r>
              <a:rPr lang="en-US" sz="1800" dirty="0">
                <a:solidFill>
                  <a:schemeClr val="bg1"/>
                </a:solidFill>
              </a:rPr>
              <a:t>Healthy margin on every sale</a:t>
            </a:r>
            <a:endParaRPr lang="en-US" sz="1800" dirty="0"/>
          </a:p>
        </p:txBody>
      </p:sp>
      <p:pic>
        <p:nvPicPr>
          <p:cNvPr id="17" name="Value bullet 3" descr="preencoded.png">    </p:cNvPr>
          <p:cNvPicPr>
            <a:picLocks noChangeAspect="1"/>
          </p:cNvPicPr>
          <p:nvPr/>
        </p:nvPicPr>
        <p:blipFill>
          <a:blip r:embed="rId6"/>
          <a:stretch>
            <a:fillRect/>
          </a:stretch>
        </p:blipFill>
        <p:spPr>
          <a:xfrm>
            <a:off x="5029200" y="3310128"/>
            <a:ext cx="274320" cy="274320"/>
          </a:xfrm>
          <a:prstGeom prst="rect">
            <a:avLst/>
          </a:prstGeom>
        </p:spPr>
      </p:pic>
      <p:sp>
        <p:nvSpPr>
          <p:cNvPr id="18" name="Value point 3"/>
          <p:cNvSpPr txBox="1"/>
          <p:nvPr/>
        </p:nvSpPr>
        <p:spPr>
          <a:xfrm>
            <a:off x="5440680" y="3255264"/>
            <a:ext cx="3017520" cy="384048"/>
          </a:xfrm>
          <a:prstGeom prst="rect">
            <a:avLst/>
          </a:prstGeom>
          <a:noFill/>
          <a:ln/>
        </p:spPr>
        <p:txBody>
          <a:bodyPr wrap="square" lIns="0" tIns="0" rIns="0" bIns="0" rtlCol="0" anchor="ctr"/>
          <a:lstStyle/>
          <a:p>
            <a:pPr indent="0" marL="0">
              <a:buNone/>
            </a:pPr>
            <a:r>
              <a:rPr lang="en-US" sz="1800" dirty="0">
                <a:solidFill>
                  <a:schemeClr val="bg1"/>
                </a:solidFill>
              </a:rPr>
              <a:t>Customers who come back</a:t>
            </a:r>
            <a:endParaRPr lang="en-US" sz="1800" dirty="0"/>
          </a:p>
        </p:txBody>
      </p:sp>
      <p:sp>
        <p:nvSpPr>
          <p:cNvPr id="19" name="Takeaway"/>
          <p:cNvSpPr txBox="1"/>
          <p:nvPr/>
        </p:nvSpPr>
        <p:spPr>
          <a:xfrm>
            <a:off x="548640" y="4114800"/>
            <a:ext cx="7680960" cy="457200"/>
          </a:xfrm>
          <a:prstGeom prst="rect">
            <a:avLst/>
          </a:prstGeom>
          <a:noFill/>
          <a:ln/>
        </p:spPr>
        <p:txBody>
          <a:bodyPr wrap="square" lIns="0" tIns="0" rIns="0" bIns="0" rtlCol="0" anchor="ctr"/>
          <a:lstStyle/>
          <a:p>
            <a:pPr indent="0" marL="0">
              <a:buNone/>
            </a:pPr>
            <a:r>
              <a:rPr lang="en-US" sz="2200" b="1" dirty="0">
                <a:solidFill>
                  <a:schemeClr val="tx2"/>
                </a:solidFill>
              </a:rPr>
              <a:t>Sell products worth paying for.</a:t>
            </a:r>
            <a:endParaRPr lang="en-US" sz="2200" dirty="0"/>
          </a:p>
        </p:txBody>
      </p:sp>
      <p:sp>
        <p:nvSpPr>
          <p:cNvPr id="25" name="Slide Number Placeholder 0"/>
          <p:cNvSpPr>
            <a:spLocks noGrp="1"/>
          </p:cNvSpPr>
          <p:nvPr>
            <p:ph type="sldNum" sz="quarter" idx="4294967295"/>
          </p:nvPr>
        </p:nvSpPr>
        <p:spPr>
          <a:xfrm>
            <a:off x="8229600" y="470916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Browsing photo" descr="Customers browsing at our stall under the Let's Pawty banner">    </p:cNvPr>
          <p:cNvPicPr>
            <a:picLocks noChangeAspect="1"/>
          </p:cNvPicPr>
          <p:nvPr/>
        </p:nvPicPr>
        <p:blipFill>
          <a:blip r:embed="rId1"/>
          <a:stretch>
            <a:fillRect/>
          </a:stretch>
        </p:blipFill>
        <p:spPr>
          <a:xfrm>
            <a:off x="548640" y="457200"/>
            <a:ext cx="3291840" cy="4229100"/>
          </a:xfrm>
          <a:prstGeom prst="rect">
            <a:avLst/>
          </a:prstGeom>
        </p:spPr>
      </p:pic>
      <p:sp>
        <p:nvSpPr>
          <p:cNvPr id="3" name="Section number"/>
          <p:cNvSpPr txBox="1"/>
          <p:nvPr/>
        </p:nvSpPr>
        <p:spPr>
          <a:xfrm>
            <a:off x="4480560" y="640080"/>
            <a:ext cx="411480" cy="411480"/>
          </a:xfrm>
          <a:prstGeom prst="ellipse">
            <a:avLst/>
          </a:prstGeom>
          <a:solidFill>
            <a:schemeClr val="accent2"/>
          </a:solid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4" name="Section label"/>
          <p:cNvSpPr txBox="1"/>
          <p:nvPr/>
        </p:nvSpPr>
        <p:spPr>
          <a:xfrm>
            <a:off x="5029200" y="640080"/>
            <a:ext cx="3566160" cy="411480"/>
          </a:xfrm>
          <a:prstGeom prst="rect">
            <a:avLst/>
          </a:prstGeom>
          <a:noFill/>
          <a:ln/>
        </p:spPr>
        <p:txBody>
          <a:bodyPr wrap="square" lIns="0" tIns="0" rIns="0" bIns="0" rtlCol="0" anchor="ctr"/>
          <a:lstStyle/>
          <a:p>
            <a:pPr indent="0" marL="0">
              <a:buNone/>
            </a:pPr>
            <a:r>
              <a:rPr lang="en-US" sz="1400" b="1" spc="300" kern="0" dirty="0">
                <a:solidFill>
                  <a:schemeClr val="tx2"/>
                </a:solidFill>
              </a:rPr>
              <a:t>PRICING &amp; PROFIT</a:t>
            </a:r>
            <a:endParaRPr lang="en-US" sz="1400" dirty="0"/>
          </a:p>
        </p:txBody>
      </p:sp>
      <p:sp>
        <p:nvSpPr>
          <p:cNvPr id="5" name="Text 0"/>
          <p:cNvSpPr/>
          <p:nvPr>
            <p:ph idx="100" type="title" hasCustomPrompt="1"/>
          </p:nvPr>
        </p:nvSpPr>
        <p:spPr>
          <a:xfrm>
            <a:off x="4480560" y="1143000"/>
            <a:ext cx="4114800" cy="1371600"/>
          </a:xfrm>
          <a:prstGeom prst="rect">
            <a:avLst/>
          </a:prstGeom>
          <a:noFill/>
          <a:ln/>
        </p:spPr>
        <p:txBody>
          <a:bodyPr wrap="square" lIns="0" tIns="0" rIns="0" bIns="0" rtlCol="0" anchor="t"/>
          <a:lstStyle/>
          <a:p>
            <a:pPr algn="l" indent="0" marL="0">
              <a:buNone/>
            </a:pPr>
            <a:r>
              <a:rPr lang="en-US" sz="3600" b="1" dirty="0">
                <a:solidFill>
                  <a:schemeClr val="tx2"/>
                </a:solidFill>
              </a:rPr>
              <a:t>Never leave value on the table</a:t>
            </a:r>
            <a:endParaRPr lang="en-US" sz="3600" dirty="0"/>
          </a:p>
        </p:txBody>
      </p:sp>
      <p:sp>
        <p:nvSpPr>
          <p:cNvPr id="6" name="Text 0"/>
          <p:cNvSpPr/>
          <p:nvPr>
            <p:ph idx="101" type="body" hasCustomPrompt="1"/>
          </p:nvPr>
        </p:nvSpPr>
        <p:spPr>
          <a:xfrm>
            <a:off x="4480560" y="2651760"/>
            <a:ext cx="4114800" cy="914400"/>
          </a:xfrm>
          <a:prstGeom prst="rect">
            <a:avLst/>
          </a:prstGeom>
          <a:noFill/>
          <a:ln/>
        </p:spPr>
        <p:txBody>
          <a:bodyPr wrap="square" lIns="0" tIns="0" rIns="0" bIns="0" rtlCol="0" anchor="t"/>
          <a:lstStyle/>
          <a:p>
            <a:pPr algn="l" indent="0" marL="0">
              <a:buNone/>
            </a:pPr>
            <a:r>
              <a:rPr lang="en-US" sz="1800" dirty="0">
                <a:solidFill>
                  <a:schemeClr val="tx1"/>
                </a:solidFill>
              </a:rPr>
              <a:t>Judge the customer, then price to match.</a:t>
            </a:r>
            <a:endParaRPr lang="en-US" sz="1800" dirty="0"/>
          </a:p>
        </p:txBody>
      </p:sp>
      <p:sp>
        <p:nvSpPr>
          <p:cNvPr id="7" name="Number 1"/>
          <p:cNvSpPr txBox="1"/>
          <p:nvPr/>
        </p:nvSpPr>
        <p:spPr>
          <a:xfrm>
            <a:off x="4480560" y="3429000"/>
            <a:ext cx="347472" cy="347472"/>
          </a:xfrm>
          <a:prstGeom prst="ellipse">
            <a:avLst/>
          </a:prstGeom>
          <a:solidFill>
            <a:schemeClr val="accent2"/>
          </a:solid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8" name="Row 1"/>
          <p:cNvSpPr txBox="1"/>
          <p:nvPr/>
        </p:nvSpPr>
        <p:spPr>
          <a:xfrm>
            <a:off x="4983480" y="3429000"/>
            <a:ext cx="3566160" cy="347472"/>
          </a:xfrm>
          <a:prstGeom prst="rect">
            <a:avLst/>
          </a:prstGeom>
          <a:noFill/>
          <a:ln/>
        </p:spPr>
        <p:txBody>
          <a:bodyPr wrap="square" lIns="0" tIns="0" rIns="0" bIns="0" rtlCol="0" anchor="ctr"/>
          <a:lstStyle/>
          <a:p>
            <a:pPr indent="0" marL="0">
              <a:buNone/>
            </a:pPr>
            <a:r>
              <a:rPr lang="en-US" sz="1800" b="1" dirty="0">
                <a:solidFill>
                  <a:schemeClr val="tx1"/>
                </a:solidFill>
              </a:rPr>
              <a:t>Know what they will pay for</a:t>
            </a:r>
            <a:endParaRPr lang="en-US" sz="1800" dirty="0"/>
          </a:p>
        </p:txBody>
      </p:sp>
      <p:sp>
        <p:nvSpPr>
          <p:cNvPr id="9" name="Number 2"/>
          <p:cNvSpPr txBox="1"/>
          <p:nvPr/>
        </p:nvSpPr>
        <p:spPr>
          <a:xfrm>
            <a:off x="4480560" y="3840480"/>
            <a:ext cx="347472" cy="347472"/>
          </a:xfrm>
          <a:prstGeom prst="ellipse">
            <a:avLst/>
          </a:prstGeom>
          <a:solidFill>
            <a:schemeClr val="accent2"/>
          </a:solid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0" name="Row 2"/>
          <p:cNvSpPr txBox="1"/>
          <p:nvPr/>
        </p:nvSpPr>
        <p:spPr>
          <a:xfrm>
            <a:off x="4983480" y="3840480"/>
            <a:ext cx="3566160" cy="347472"/>
          </a:xfrm>
          <a:prstGeom prst="rect">
            <a:avLst/>
          </a:prstGeom>
          <a:noFill/>
          <a:ln/>
        </p:spPr>
        <p:txBody>
          <a:bodyPr wrap="square" lIns="0" tIns="0" rIns="0" bIns="0" rtlCol="0" anchor="ctr"/>
          <a:lstStyle/>
          <a:p>
            <a:pPr indent="0" marL="0">
              <a:buNone/>
            </a:pPr>
            <a:r>
              <a:rPr lang="en-US" sz="1800" b="1" dirty="0">
                <a:solidFill>
                  <a:schemeClr val="tx1"/>
                </a:solidFill>
              </a:rPr>
              <a:t>Offer the right option</a:t>
            </a:r>
            <a:endParaRPr lang="en-US" sz="1800" dirty="0"/>
          </a:p>
        </p:txBody>
      </p:sp>
      <p:sp>
        <p:nvSpPr>
          <p:cNvPr id="11" name="Number 3"/>
          <p:cNvSpPr txBox="1"/>
          <p:nvPr/>
        </p:nvSpPr>
        <p:spPr>
          <a:xfrm>
            <a:off x="4480560" y="4251960"/>
            <a:ext cx="347472" cy="347472"/>
          </a:xfrm>
          <a:prstGeom prst="ellipse">
            <a:avLst/>
          </a:prstGeom>
          <a:solidFill>
            <a:schemeClr val="accent2"/>
          </a:solid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2" name="Row 3"/>
          <p:cNvSpPr txBox="1"/>
          <p:nvPr/>
        </p:nvSpPr>
        <p:spPr>
          <a:xfrm>
            <a:off x="4983480" y="4251960"/>
            <a:ext cx="3566160" cy="347472"/>
          </a:xfrm>
          <a:prstGeom prst="rect">
            <a:avLst/>
          </a:prstGeom>
          <a:noFill/>
          <a:ln/>
        </p:spPr>
        <p:txBody>
          <a:bodyPr wrap="square" lIns="0" tIns="0" rIns="0" bIns="0" rtlCol="0" anchor="ctr"/>
          <a:lstStyle/>
          <a:p>
            <a:pPr indent="0" marL="0">
              <a:buNone/>
            </a:pPr>
            <a:r>
              <a:rPr lang="en-US" sz="1800" b="1" dirty="0">
                <a:solidFill>
                  <a:schemeClr val="tx1"/>
                </a:solidFill>
              </a:rPr>
              <a:t>Don't discount a ready buyer</a:t>
            </a:r>
            <a:endParaRPr lang="en-US" sz="1800" dirty="0"/>
          </a:p>
        </p:txBody>
      </p:sp>
      <p:sp>
        <p:nvSpPr>
          <p:cNvPr id="25" name="Slide Number Placeholder 0"/>
          <p:cNvSpPr>
            <a:spLocks noGrp="1"/>
          </p:cNvSpPr>
          <p:nvPr>
            <p:ph type="sldNum" sz="quarter" idx="4294967295"/>
          </p:nvPr>
        </p:nvSpPr>
        <p:spPr>
          <a:xfrm>
            <a:off x="8229600" y="470916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8046720" cy="731520"/>
          </a:xfrm>
          <a:prstGeom prst="rect">
            <a:avLst/>
          </a:prstGeom>
          <a:noFill/>
          <a:ln/>
        </p:spPr>
        <p:txBody>
          <a:bodyPr wrap="square" lIns="0" tIns="0" rIns="0" bIns="0" rtlCol="0" anchor="ctr"/>
          <a:lstStyle/>
          <a:p>
            <a:pPr algn="l" indent="0" marL="0">
              <a:buNone/>
            </a:pPr>
            <a:r>
              <a:rPr lang="en-US" sz="3600" b="1" dirty="0">
                <a:solidFill>
                  <a:schemeClr val="tx2"/>
                </a:solidFill>
              </a:rPr>
              <a:t>Key Takeaways</a:t>
            </a:r>
            <a:endParaRPr lang="en-US" sz="3600" dirty="0"/>
          </a:p>
        </p:txBody>
      </p:sp>
      <p:sp>
        <p:nvSpPr>
          <p:cNvPr id="3" name="Takeaway card 1"/>
          <p:cNvSpPr/>
          <p:nvPr/>
        </p:nvSpPr>
        <p:spPr>
          <a:xfrm>
            <a:off x="548640" y="1280160"/>
            <a:ext cx="8046720" cy="731520"/>
          </a:xfrm>
          <a:prstGeom prst="roundRect">
            <a:avLst>
              <a:gd name="adj" fmla="val 18750"/>
            </a:avLst>
          </a:prstGeom>
          <a:solidFill>
            <a:schemeClr val="bg2"/>
          </a:solidFill>
          <a:ln/>
        </p:spPr>
      </p:sp>
      <p:sp>
        <p:nvSpPr>
          <p:cNvPr id="4" name="Takeaway number 1"/>
          <p:cNvSpPr txBox="1"/>
          <p:nvPr/>
        </p:nvSpPr>
        <p:spPr>
          <a:xfrm>
            <a:off x="777240" y="1417320"/>
            <a:ext cx="457200" cy="457200"/>
          </a:xfrm>
          <a:prstGeom prst="ellipse">
            <a:avLst/>
          </a:prstGeom>
          <a:solidFill>
            <a:schemeClr val="accent2"/>
          </a:solid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5" name="Takeaway text 1"/>
          <p:cNvSpPr txBox="1"/>
          <p:nvPr/>
        </p:nvSpPr>
        <p:spPr>
          <a:xfrm>
            <a:off x="1508760" y="1325880"/>
            <a:ext cx="6858000" cy="640080"/>
          </a:xfrm>
          <a:prstGeom prst="rect">
            <a:avLst/>
          </a:prstGeom>
          <a:noFill/>
          <a:ln/>
        </p:spPr>
        <p:txBody>
          <a:bodyPr wrap="square" lIns="0" tIns="0" rIns="0" bIns="0" rtlCol="0" anchor="ctr"/>
          <a:lstStyle/>
          <a:p>
            <a:pPr indent="0" marL="0">
              <a:buNone/>
            </a:pPr>
            <a:r>
              <a:rPr lang="en-US" sz="2000" b="1" dirty="0">
                <a:solidFill>
                  <a:schemeClr val="tx2"/>
                </a:solidFill>
              </a:rPr>
              <a:t>No brand? Push the product</a:t>
            </a:r>
            <a:endParaRPr lang="en-US" sz="2000" dirty="0"/>
          </a:p>
          <a:p>
            <a:pPr indent="0" marL="0">
              <a:buNone/>
            </a:pPr>
            <a:r>
              <a:rPr lang="en-US" sz="1400" dirty="0">
                <a:solidFill>
                  <a:schemeClr val="tx1"/>
                </a:solidFill>
              </a:rPr>
              <a:t>Go to the customer and earn the sale in person.</a:t>
            </a:r>
            <a:endParaRPr lang="en-US" sz="2000" dirty="0"/>
          </a:p>
        </p:txBody>
      </p:sp>
      <p:sp>
        <p:nvSpPr>
          <p:cNvPr id="6" name="Takeaway card 2"/>
          <p:cNvSpPr/>
          <p:nvPr/>
        </p:nvSpPr>
        <p:spPr>
          <a:xfrm>
            <a:off x="548640" y="2148840"/>
            <a:ext cx="8046720" cy="731520"/>
          </a:xfrm>
          <a:prstGeom prst="roundRect">
            <a:avLst>
              <a:gd name="adj" fmla="val 18750"/>
            </a:avLst>
          </a:prstGeom>
          <a:solidFill>
            <a:schemeClr val="bg2"/>
          </a:solidFill>
          <a:ln/>
        </p:spPr>
      </p:sp>
      <p:sp>
        <p:nvSpPr>
          <p:cNvPr id="7" name="Takeaway number 2"/>
          <p:cNvSpPr txBox="1"/>
          <p:nvPr/>
        </p:nvSpPr>
        <p:spPr>
          <a:xfrm>
            <a:off x="777240" y="2286000"/>
            <a:ext cx="457200" cy="457200"/>
          </a:xfrm>
          <a:prstGeom prst="ellipse">
            <a:avLst/>
          </a:prstGeom>
          <a:solidFill>
            <a:schemeClr val="accent2"/>
          </a:solid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8" name="Takeaway text 2"/>
          <p:cNvSpPr txBox="1"/>
          <p:nvPr/>
        </p:nvSpPr>
        <p:spPr>
          <a:xfrm>
            <a:off x="1508760" y="2194560"/>
            <a:ext cx="6858000" cy="640080"/>
          </a:xfrm>
          <a:prstGeom prst="rect">
            <a:avLst/>
          </a:prstGeom>
          <a:noFill/>
          <a:ln/>
        </p:spPr>
        <p:txBody>
          <a:bodyPr wrap="square" lIns="0" tIns="0" rIns="0" bIns="0" rtlCol="0" anchor="ctr"/>
          <a:lstStyle/>
          <a:p>
            <a:pPr indent="0" marL="0">
              <a:buNone/>
            </a:pPr>
            <a:r>
              <a:rPr lang="en-US" sz="2000" b="1" dirty="0">
                <a:solidFill>
                  <a:schemeClr val="tx2"/>
                </a:solidFill>
              </a:rPr>
              <a:t>Know who pays and who uses</a:t>
            </a:r>
            <a:endParaRPr lang="en-US" sz="2000" dirty="0"/>
          </a:p>
          <a:p>
            <a:pPr indent="0" marL="0">
              <a:buNone/>
            </a:pPr>
            <a:r>
              <a:rPr lang="en-US" sz="1400" dirty="0">
                <a:solidFill>
                  <a:schemeClr val="tx1"/>
                </a:solidFill>
              </a:rPr>
              <a:t>Speak to the buyer, design for the user.</a:t>
            </a:r>
            <a:endParaRPr lang="en-US" sz="2000" dirty="0"/>
          </a:p>
        </p:txBody>
      </p:sp>
      <p:sp>
        <p:nvSpPr>
          <p:cNvPr id="9" name="Takeaway card 3"/>
          <p:cNvSpPr/>
          <p:nvPr/>
        </p:nvSpPr>
        <p:spPr>
          <a:xfrm>
            <a:off x="548640" y="3017520"/>
            <a:ext cx="8046720" cy="731520"/>
          </a:xfrm>
          <a:prstGeom prst="roundRect">
            <a:avLst>
              <a:gd name="adj" fmla="val 18750"/>
            </a:avLst>
          </a:prstGeom>
          <a:solidFill>
            <a:schemeClr val="bg2"/>
          </a:solidFill>
          <a:ln/>
        </p:spPr>
      </p:sp>
      <p:sp>
        <p:nvSpPr>
          <p:cNvPr id="10" name="Takeaway number 3"/>
          <p:cNvSpPr txBox="1"/>
          <p:nvPr/>
        </p:nvSpPr>
        <p:spPr>
          <a:xfrm>
            <a:off x="777240" y="3154680"/>
            <a:ext cx="457200" cy="457200"/>
          </a:xfrm>
          <a:prstGeom prst="ellipse">
            <a:avLst/>
          </a:prstGeom>
          <a:solidFill>
            <a:schemeClr val="accent2"/>
          </a:solid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1" name="Takeaway text 3"/>
          <p:cNvSpPr txBox="1"/>
          <p:nvPr/>
        </p:nvSpPr>
        <p:spPr>
          <a:xfrm>
            <a:off x="1508760" y="3063240"/>
            <a:ext cx="6858000" cy="640080"/>
          </a:xfrm>
          <a:prstGeom prst="rect">
            <a:avLst/>
          </a:prstGeom>
          <a:noFill/>
          <a:ln/>
        </p:spPr>
        <p:txBody>
          <a:bodyPr wrap="square" lIns="0" tIns="0" rIns="0" bIns="0" rtlCol="0" anchor="ctr"/>
          <a:lstStyle/>
          <a:p>
            <a:pPr indent="0" marL="0">
              <a:buNone/>
            </a:pPr>
            <a:r>
              <a:rPr lang="en-US" sz="2000" b="1" dirty="0">
                <a:solidFill>
                  <a:schemeClr val="tx2"/>
                </a:solidFill>
              </a:rPr>
              <a:t>Smartly judge the customer</a:t>
            </a:r>
            <a:endParaRPr lang="en-US" sz="2000" dirty="0"/>
          </a:p>
          <a:p>
            <a:pPr indent="0" marL="0">
              <a:buNone/>
            </a:pPr>
            <a:r>
              <a:rPr lang="en-US" sz="1400" dirty="0">
                <a:solidFill>
                  <a:schemeClr val="tx1"/>
                </a:solidFill>
              </a:rPr>
              <a:t>Read them first, then tailor the pitch.</a:t>
            </a:r>
            <a:endParaRPr lang="en-US" sz="2000" dirty="0"/>
          </a:p>
        </p:txBody>
      </p:sp>
      <p:sp>
        <p:nvSpPr>
          <p:cNvPr id="12" name="Takeaway card 4"/>
          <p:cNvSpPr/>
          <p:nvPr/>
        </p:nvSpPr>
        <p:spPr>
          <a:xfrm>
            <a:off x="548640" y="3886200"/>
            <a:ext cx="8046720" cy="731520"/>
          </a:xfrm>
          <a:prstGeom prst="roundRect">
            <a:avLst>
              <a:gd name="adj" fmla="val 18750"/>
            </a:avLst>
          </a:prstGeom>
          <a:solidFill>
            <a:schemeClr val="bg2"/>
          </a:solidFill>
          <a:ln/>
        </p:spPr>
      </p:sp>
      <p:sp>
        <p:nvSpPr>
          <p:cNvPr id="13" name="Takeaway number 4"/>
          <p:cNvSpPr txBox="1"/>
          <p:nvPr/>
        </p:nvSpPr>
        <p:spPr>
          <a:xfrm>
            <a:off x="777240" y="4023360"/>
            <a:ext cx="457200" cy="457200"/>
          </a:xfrm>
          <a:prstGeom prst="ellipse">
            <a:avLst/>
          </a:prstGeom>
          <a:solidFill>
            <a:schemeClr val="accent2"/>
          </a:solid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14" name="Takeaway text 4"/>
          <p:cNvSpPr txBox="1"/>
          <p:nvPr/>
        </p:nvSpPr>
        <p:spPr>
          <a:xfrm>
            <a:off x="1508760" y="3931920"/>
            <a:ext cx="6858000" cy="640080"/>
          </a:xfrm>
          <a:prstGeom prst="rect">
            <a:avLst/>
          </a:prstGeom>
          <a:noFill/>
          <a:ln/>
        </p:spPr>
        <p:txBody>
          <a:bodyPr wrap="square" lIns="0" tIns="0" rIns="0" bIns="0" rtlCol="0" anchor="ctr"/>
          <a:lstStyle/>
          <a:p>
            <a:pPr indent="0" marL="0">
              <a:buNone/>
            </a:pPr>
            <a:r>
              <a:rPr lang="en-US" sz="2000" b="1" dirty="0">
                <a:solidFill>
                  <a:schemeClr val="tx2"/>
                </a:solidFill>
              </a:rPr>
              <a:t>Value over volume</a:t>
            </a:r>
            <a:endParaRPr lang="en-US" sz="2000" dirty="0"/>
          </a:p>
          <a:p>
            <a:pPr indent="0" marL="0">
              <a:buNone/>
            </a:pPr>
            <a:r>
              <a:rPr lang="en-US" sz="1400" dirty="0">
                <a:solidFill>
                  <a:schemeClr val="tx1"/>
                </a:solidFill>
              </a:rPr>
              <a:t>Never leave the value on the table.</a:t>
            </a:r>
            <a:endParaRPr lang="en-US" sz="2000" dirty="0"/>
          </a:p>
        </p:txBody>
      </p:sp>
      <p:sp>
        <p:nvSpPr>
          <p:cNvPr id="25" name="Slide Number Placeholder 0"/>
          <p:cNvSpPr>
            <a:spLocks noGrp="1"/>
          </p:cNvSpPr>
          <p:nvPr>
            <p:ph type="sldNum" sz="quarter" idx="4294967295"/>
          </p:nvPr>
        </p:nvSpPr>
        <p:spPr>
          <a:xfrm>
            <a:off x="8229600" y="470916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502920"/>
            <a:ext cx="8046720" cy="822960"/>
          </a:xfrm>
          <a:prstGeom prst="rect">
            <a:avLst/>
          </a:prstGeom>
          <a:noFill/>
          <a:ln/>
        </p:spPr>
        <p:txBody>
          <a:bodyPr wrap="square" lIns="0" tIns="0" rIns="0" bIns="0" rtlCol="0" anchor="ctr"/>
          <a:lstStyle/>
          <a:p>
            <a:pPr algn="l" indent="0" marL="0">
              <a:buNone/>
            </a:pPr>
            <a:r>
              <a:rPr lang="en-US" sz="4400" b="1" dirty="0">
                <a:solidFill>
                  <a:schemeClr val="bg1"/>
                </a:solidFill>
              </a:rPr>
              <a:t>Thank You</a:t>
            </a:r>
            <a:endParaRPr lang="en-US" sz="4400" dirty="0"/>
          </a:p>
        </p:txBody>
      </p:sp>
      <p:sp>
        <p:nvSpPr>
          <p:cNvPr id="3" name="Text 0"/>
          <p:cNvSpPr/>
          <p:nvPr>
            <p:ph idx="101" type="body" hasCustomPrompt="1"/>
          </p:nvPr>
        </p:nvSpPr>
        <p:spPr>
          <a:xfrm>
            <a:off x="548640" y="1371600"/>
            <a:ext cx="8046720" cy="457200"/>
          </a:xfrm>
          <a:prstGeom prst="rect">
            <a:avLst/>
          </a:prstGeom>
          <a:noFill/>
          <a:ln/>
        </p:spPr>
        <p:txBody>
          <a:bodyPr wrap="square" lIns="0" tIns="0" rIns="0" bIns="0" rtlCol="0" anchor="t"/>
          <a:lstStyle/>
          <a:p>
            <a:pPr algn="l" indent="0" marL="0">
              <a:buNone/>
            </a:pPr>
            <a:r>
              <a:rPr lang="en-US" sz="2000" dirty="0">
                <a:solidFill>
                  <a:schemeClr val="bg2"/>
                </a:solidFill>
              </a:rPr>
              <a:t>Questions and discussion</a:t>
            </a:r>
            <a:endParaRPr lang="en-US" sz="2000" dirty="0"/>
          </a:p>
        </p:txBody>
      </p:sp>
      <p:pic>
        <p:nvPicPr>
          <p:cNvPr id="4" name="Team photo" descr="Our team at the stall">    </p:cNvPr>
          <p:cNvPicPr>
            <a:picLocks noChangeAspect="1"/>
          </p:cNvPicPr>
          <p:nvPr/>
        </p:nvPicPr>
        <p:blipFill>
          <a:blip r:embed="rId1"/>
          <a:stretch>
            <a:fillRect/>
          </a:stretch>
        </p:blipFill>
        <p:spPr>
          <a:xfrm>
            <a:off x="548640" y="2194560"/>
            <a:ext cx="8046720" cy="2377440"/>
          </a:xfrm>
          <a:prstGeom prst="rect">
            <a:avLst/>
          </a:prstGeom>
        </p:spPr>
      </p:pic>
    </p:spTree>
  </p:cSld>
  <p:clrMapOvr>
    <a:masterClrMapping/>
  </p:clrMapOvr>
</p:sld>
</file>

<file path=ppt/theme/theme1.xml><?xml version="1.0" encoding="utf-8"?>
<a:theme xmlns:a="http://schemas.openxmlformats.org/drawingml/2006/main" name="D2C Pet Stall">
  <a:themeElements>
    <a:clrScheme name="D2C Pet Stall">
      <a:dk1>
        <a:srgbClr val="1B2A22"/>
      </a:dk1>
      <a:lt1>
        <a:srgbClr val="FFFFFF"/>
      </a:lt1>
      <a:dk2>
        <a:srgbClr val="14532D"/>
      </a:dk2>
      <a:lt2>
        <a:srgbClr val="EAF3EC"/>
      </a:lt2>
      <a:accent1>
        <a:srgbClr val="1F7A4D"/>
      </a:accent1>
      <a:accent2>
        <a:srgbClr val="E5533A"/>
      </a:accent2>
      <a:accent3>
        <a:srgbClr val="F5B82E"/>
      </a:accent3>
      <a:accent4>
        <a:srgbClr val="5BB98C"/>
      </a:accent4>
      <a:accent5>
        <a:srgbClr val="3C8DBC"/>
      </a:accent5>
      <a:accent6>
        <a:srgbClr val="8E6BBF"/>
      </a:accent6>
      <a:hlink>
        <a:srgbClr val="1F7A4D"/>
      </a:hlink>
      <a:folHlink>
        <a:srgbClr val="8E6BBF"/>
      </a:folHlink>
    </a:clrScheme>
    <a:fontScheme name="D2C Pet Stall">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D2C Lessons from Our Stall</dc:title>
  <dc:subject>PptxGenJS Presentation</dc:subject>
  <dc:creator>PptxGenJS</dc:creator>
  <cp:lastModifiedBy>PptxGenJS</cp:lastModifiedBy>
  <cp:revision>1</cp:revision>
  <dcterms:created xsi:type="dcterms:W3CDTF">2026-10-22T16:36:06Z</dcterms:created>
  <dcterms:modified xsi:type="dcterms:W3CDTF">2026-10-22T16:36:06Z</dcterms:modified>
</cp:coreProperties>
</file>